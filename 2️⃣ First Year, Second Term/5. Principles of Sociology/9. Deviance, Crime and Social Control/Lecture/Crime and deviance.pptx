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24" r:id="rId4"/>
    <p:sldId id="258" r:id="rId5"/>
    <p:sldId id="325" r:id="rId6"/>
    <p:sldId id="326" r:id="rId7"/>
    <p:sldId id="327" r:id="rId8"/>
    <p:sldId id="328" r:id="rId9"/>
    <p:sldId id="329" r:id="rId10"/>
    <p:sldId id="330" r:id="rId11"/>
    <p:sldId id="331" r:id="rId12"/>
    <p:sldId id="33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86248-38CE-44B3-8AD1-C3970061E7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786E24-3C62-4F99-8F47-8EA012ABDD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4E1790E-6176-456C-B955-BECD9B4AF5D0}"/>
              </a:ext>
            </a:extLst>
          </p:cNvPr>
          <p:cNvSpPr>
            <a:spLocks noGrp="1"/>
          </p:cNvSpPr>
          <p:nvPr>
            <p:ph type="dt" sz="half" idx="10"/>
          </p:nvPr>
        </p:nvSpPr>
        <p:spPr/>
        <p:txBody>
          <a:bodyPr/>
          <a:lstStyle/>
          <a:p>
            <a:fld id="{0C12A418-F0E5-4A75-A5DC-C38970A138C5}" type="datetimeFigureOut">
              <a:rPr lang="en-US" smtClean="0"/>
              <a:t>9/25/2025</a:t>
            </a:fld>
            <a:endParaRPr lang="en-US"/>
          </a:p>
        </p:txBody>
      </p:sp>
      <p:sp>
        <p:nvSpPr>
          <p:cNvPr id="5" name="Footer Placeholder 4">
            <a:extLst>
              <a:ext uri="{FF2B5EF4-FFF2-40B4-BE49-F238E27FC236}">
                <a16:creationId xmlns:a16="http://schemas.microsoft.com/office/drawing/2014/main" id="{58716716-6B2E-4092-A201-40B87CECCF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3779BC-DA41-4D03-A5DE-475A5823C738}"/>
              </a:ext>
            </a:extLst>
          </p:cNvPr>
          <p:cNvSpPr>
            <a:spLocks noGrp="1"/>
          </p:cNvSpPr>
          <p:nvPr>
            <p:ph type="sldNum" sz="quarter" idx="12"/>
          </p:nvPr>
        </p:nvSpPr>
        <p:spPr/>
        <p:txBody>
          <a:bodyPr/>
          <a:lstStyle/>
          <a:p>
            <a:fld id="{99024C6A-8125-45E8-BA50-8F3BFC53B722}" type="slidenum">
              <a:rPr lang="en-US" smtClean="0"/>
              <a:t>‹#›</a:t>
            </a:fld>
            <a:endParaRPr lang="en-US"/>
          </a:p>
        </p:txBody>
      </p:sp>
    </p:spTree>
    <p:extLst>
      <p:ext uri="{BB962C8B-B14F-4D97-AF65-F5344CB8AC3E}">
        <p14:creationId xmlns:p14="http://schemas.microsoft.com/office/powerpoint/2010/main" val="2525493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3EACF-A19A-4040-8345-A42E951251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CAFF14-EB42-4E19-9DCD-DB3611E10B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35FD2C-DB81-4688-BF99-CC4BAC799C5D}"/>
              </a:ext>
            </a:extLst>
          </p:cNvPr>
          <p:cNvSpPr>
            <a:spLocks noGrp="1"/>
          </p:cNvSpPr>
          <p:nvPr>
            <p:ph type="dt" sz="half" idx="10"/>
          </p:nvPr>
        </p:nvSpPr>
        <p:spPr/>
        <p:txBody>
          <a:bodyPr/>
          <a:lstStyle/>
          <a:p>
            <a:fld id="{0C12A418-F0E5-4A75-A5DC-C38970A138C5}" type="datetimeFigureOut">
              <a:rPr lang="en-US" smtClean="0"/>
              <a:t>9/25/2025</a:t>
            </a:fld>
            <a:endParaRPr lang="en-US"/>
          </a:p>
        </p:txBody>
      </p:sp>
      <p:sp>
        <p:nvSpPr>
          <p:cNvPr id="5" name="Footer Placeholder 4">
            <a:extLst>
              <a:ext uri="{FF2B5EF4-FFF2-40B4-BE49-F238E27FC236}">
                <a16:creationId xmlns:a16="http://schemas.microsoft.com/office/drawing/2014/main" id="{FDD40B09-13D1-45E7-B702-9F70128AB0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436EED-E1A6-4C13-B886-1900E9BA12B9}"/>
              </a:ext>
            </a:extLst>
          </p:cNvPr>
          <p:cNvSpPr>
            <a:spLocks noGrp="1"/>
          </p:cNvSpPr>
          <p:nvPr>
            <p:ph type="sldNum" sz="quarter" idx="12"/>
          </p:nvPr>
        </p:nvSpPr>
        <p:spPr/>
        <p:txBody>
          <a:bodyPr/>
          <a:lstStyle/>
          <a:p>
            <a:fld id="{99024C6A-8125-45E8-BA50-8F3BFC53B722}" type="slidenum">
              <a:rPr lang="en-US" smtClean="0"/>
              <a:t>‹#›</a:t>
            </a:fld>
            <a:endParaRPr lang="en-US"/>
          </a:p>
        </p:txBody>
      </p:sp>
    </p:spTree>
    <p:extLst>
      <p:ext uri="{BB962C8B-B14F-4D97-AF65-F5344CB8AC3E}">
        <p14:creationId xmlns:p14="http://schemas.microsoft.com/office/powerpoint/2010/main" val="2143541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F898B-B972-409C-8752-4CD2F93C26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1FF9A5-FFC9-4281-8F5A-D2FE3020A2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322EB2-B3F0-4C3F-AD03-EF76A37BD0DB}"/>
              </a:ext>
            </a:extLst>
          </p:cNvPr>
          <p:cNvSpPr>
            <a:spLocks noGrp="1"/>
          </p:cNvSpPr>
          <p:nvPr>
            <p:ph type="dt" sz="half" idx="10"/>
          </p:nvPr>
        </p:nvSpPr>
        <p:spPr/>
        <p:txBody>
          <a:bodyPr/>
          <a:lstStyle/>
          <a:p>
            <a:fld id="{0C12A418-F0E5-4A75-A5DC-C38970A138C5}" type="datetimeFigureOut">
              <a:rPr lang="en-US" smtClean="0"/>
              <a:t>9/25/2025</a:t>
            </a:fld>
            <a:endParaRPr lang="en-US"/>
          </a:p>
        </p:txBody>
      </p:sp>
      <p:sp>
        <p:nvSpPr>
          <p:cNvPr id="5" name="Footer Placeholder 4">
            <a:extLst>
              <a:ext uri="{FF2B5EF4-FFF2-40B4-BE49-F238E27FC236}">
                <a16:creationId xmlns:a16="http://schemas.microsoft.com/office/drawing/2014/main" id="{539F22D2-2D71-4C2A-AA11-A269F70E91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DB26E9-6F79-4C37-BBFC-50C3A0E6D3BE}"/>
              </a:ext>
            </a:extLst>
          </p:cNvPr>
          <p:cNvSpPr>
            <a:spLocks noGrp="1"/>
          </p:cNvSpPr>
          <p:nvPr>
            <p:ph type="sldNum" sz="quarter" idx="12"/>
          </p:nvPr>
        </p:nvSpPr>
        <p:spPr/>
        <p:txBody>
          <a:bodyPr/>
          <a:lstStyle/>
          <a:p>
            <a:fld id="{99024C6A-8125-45E8-BA50-8F3BFC53B722}" type="slidenum">
              <a:rPr lang="en-US" smtClean="0"/>
              <a:t>‹#›</a:t>
            </a:fld>
            <a:endParaRPr lang="en-US"/>
          </a:p>
        </p:txBody>
      </p:sp>
    </p:spTree>
    <p:extLst>
      <p:ext uri="{BB962C8B-B14F-4D97-AF65-F5344CB8AC3E}">
        <p14:creationId xmlns:p14="http://schemas.microsoft.com/office/powerpoint/2010/main" val="3194742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DD58D-7B59-461D-9BB3-37FA8AE63E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19212A-C0DD-4A62-891B-618F1BC30C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F4BC76-A312-4688-8D9B-68EF96CCF1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60C0D0-BC45-4D16-9FC0-BE712B26283E}"/>
              </a:ext>
            </a:extLst>
          </p:cNvPr>
          <p:cNvSpPr>
            <a:spLocks noGrp="1"/>
          </p:cNvSpPr>
          <p:nvPr>
            <p:ph type="dt" sz="half" idx="10"/>
          </p:nvPr>
        </p:nvSpPr>
        <p:spPr/>
        <p:txBody>
          <a:bodyPr/>
          <a:lstStyle/>
          <a:p>
            <a:fld id="{0C12A418-F0E5-4A75-A5DC-C38970A138C5}" type="datetimeFigureOut">
              <a:rPr lang="en-US" smtClean="0"/>
              <a:t>9/25/2025</a:t>
            </a:fld>
            <a:endParaRPr lang="en-US"/>
          </a:p>
        </p:txBody>
      </p:sp>
      <p:sp>
        <p:nvSpPr>
          <p:cNvPr id="6" name="Footer Placeholder 5">
            <a:extLst>
              <a:ext uri="{FF2B5EF4-FFF2-40B4-BE49-F238E27FC236}">
                <a16:creationId xmlns:a16="http://schemas.microsoft.com/office/drawing/2014/main" id="{8CF2FAFB-F8EC-4F49-BBD6-70547500BF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33B5A3-6CDE-439D-8A59-78A80FB55B0D}"/>
              </a:ext>
            </a:extLst>
          </p:cNvPr>
          <p:cNvSpPr>
            <a:spLocks noGrp="1"/>
          </p:cNvSpPr>
          <p:nvPr>
            <p:ph type="sldNum" sz="quarter" idx="12"/>
          </p:nvPr>
        </p:nvSpPr>
        <p:spPr/>
        <p:txBody>
          <a:bodyPr/>
          <a:lstStyle/>
          <a:p>
            <a:fld id="{99024C6A-8125-45E8-BA50-8F3BFC53B722}" type="slidenum">
              <a:rPr lang="en-US" smtClean="0"/>
              <a:t>‹#›</a:t>
            </a:fld>
            <a:endParaRPr lang="en-US"/>
          </a:p>
        </p:txBody>
      </p:sp>
    </p:spTree>
    <p:extLst>
      <p:ext uri="{BB962C8B-B14F-4D97-AF65-F5344CB8AC3E}">
        <p14:creationId xmlns:p14="http://schemas.microsoft.com/office/powerpoint/2010/main" val="3542448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99ADB-078E-4C0B-8A23-ED8476AAA89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682468E-61B2-43E1-A2CB-5B05A32153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CABE7E-58F0-40AD-81EE-B5ABBD3F93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5FBF45-9FD0-4F4F-A6AB-911C6E5F60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720340-9B8A-4BFF-8E4D-57645D4338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AA591A-C181-47BC-B5D0-5F6CAC4D25A4}"/>
              </a:ext>
            </a:extLst>
          </p:cNvPr>
          <p:cNvSpPr>
            <a:spLocks noGrp="1"/>
          </p:cNvSpPr>
          <p:nvPr>
            <p:ph type="dt" sz="half" idx="10"/>
          </p:nvPr>
        </p:nvSpPr>
        <p:spPr/>
        <p:txBody>
          <a:bodyPr/>
          <a:lstStyle/>
          <a:p>
            <a:fld id="{0C12A418-F0E5-4A75-A5DC-C38970A138C5}" type="datetimeFigureOut">
              <a:rPr lang="en-US" smtClean="0"/>
              <a:t>9/25/2025</a:t>
            </a:fld>
            <a:endParaRPr lang="en-US"/>
          </a:p>
        </p:txBody>
      </p:sp>
      <p:sp>
        <p:nvSpPr>
          <p:cNvPr id="8" name="Footer Placeholder 7">
            <a:extLst>
              <a:ext uri="{FF2B5EF4-FFF2-40B4-BE49-F238E27FC236}">
                <a16:creationId xmlns:a16="http://schemas.microsoft.com/office/drawing/2014/main" id="{20F724B2-81CA-4582-96EA-D2A7BE64EC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C4DB8C-A54D-4437-AB28-969B42D3761E}"/>
              </a:ext>
            </a:extLst>
          </p:cNvPr>
          <p:cNvSpPr>
            <a:spLocks noGrp="1"/>
          </p:cNvSpPr>
          <p:nvPr>
            <p:ph type="sldNum" sz="quarter" idx="12"/>
          </p:nvPr>
        </p:nvSpPr>
        <p:spPr/>
        <p:txBody>
          <a:bodyPr/>
          <a:lstStyle/>
          <a:p>
            <a:fld id="{99024C6A-8125-45E8-BA50-8F3BFC53B722}" type="slidenum">
              <a:rPr lang="en-US" smtClean="0"/>
              <a:t>‹#›</a:t>
            </a:fld>
            <a:endParaRPr lang="en-US"/>
          </a:p>
        </p:txBody>
      </p:sp>
    </p:spTree>
    <p:extLst>
      <p:ext uri="{BB962C8B-B14F-4D97-AF65-F5344CB8AC3E}">
        <p14:creationId xmlns:p14="http://schemas.microsoft.com/office/powerpoint/2010/main" val="3588442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EF126-545D-4B81-B9E0-A7579457B3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958AD0-7CC5-4B92-8B28-BD4B9E42D5B2}"/>
              </a:ext>
            </a:extLst>
          </p:cNvPr>
          <p:cNvSpPr>
            <a:spLocks noGrp="1"/>
          </p:cNvSpPr>
          <p:nvPr>
            <p:ph type="dt" sz="half" idx="10"/>
          </p:nvPr>
        </p:nvSpPr>
        <p:spPr/>
        <p:txBody>
          <a:bodyPr/>
          <a:lstStyle/>
          <a:p>
            <a:fld id="{0C12A418-F0E5-4A75-A5DC-C38970A138C5}" type="datetimeFigureOut">
              <a:rPr lang="en-US" smtClean="0"/>
              <a:t>9/25/2025</a:t>
            </a:fld>
            <a:endParaRPr lang="en-US"/>
          </a:p>
        </p:txBody>
      </p:sp>
      <p:sp>
        <p:nvSpPr>
          <p:cNvPr id="4" name="Footer Placeholder 3">
            <a:extLst>
              <a:ext uri="{FF2B5EF4-FFF2-40B4-BE49-F238E27FC236}">
                <a16:creationId xmlns:a16="http://schemas.microsoft.com/office/drawing/2014/main" id="{B20F0B99-3636-4DEA-ABE1-6244B43885E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66FBDB-47E0-49D9-AEBC-32D61F69EA30}"/>
              </a:ext>
            </a:extLst>
          </p:cNvPr>
          <p:cNvSpPr>
            <a:spLocks noGrp="1"/>
          </p:cNvSpPr>
          <p:nvPr>
            <p:ph type="sldNum" sz="quarter" idx="12"/>
          </p:nvPr>
        </p:nvSpPr>
        <p:spPr/>
        <p:txBody>
          <a:bodyPr/>
          <a:lstStyle/>
          <a:p>
            <a:fld id="{99024C6A-8125-45E8-BA50-8F3BFC53B722}" type="slidenum">
              <a:rPr lang="en-US" smtClean="0"/>
              <a:t>‹#›</a:t>
            </a:fld>
            <a:endParaRPr lang="en-US"/>
          </a:p>
        </p:txBody>
      </p:sp>
    </p:spTree>
    <p:extLst>
      <p:ext uri="{BB962C8B-B14F-4D97-AF65-F5344CB8AC3E}">
        <p14:creationId xmlns:p14="http://schemas.microsoft.com/office/powerpoint/2010/main" val="3796123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4307D7-B97C-4768-B5F1-C654BFC64666}"/>
              </a:ext>
            </a:extLst>
          </p:cNvPr>
          <p:cNvSpPr>
            <a:spLocks noGrp="1"/>
          </p:cNvSpPr>
          <p:nvPr>
            <p:ph type="dt" sz="half" idx="10"/>
          </p:nvPr>
        </p:nvSpPr>
        <p:spPr/>
        <p:txBody>
          <a:bodyPr/>
          <a:lstStyle/>
          <a:p>
            <a:fld id="{0C12A418-F0E5-4A75-A5DC-C38970A138C5}" type="datetimeFigureOut">
              <a:rPr lang="en-US" smtClean="0"/>
              <a:t>9/25/2025</a:t>
            </a:fld>
            <a:endParaRPr lang="en-US"/>
          </a:p>
        </p:txBody>
      </p:sp>
      <p:sp>
        <p:nvSpPr>
          <p:cNvPr id="3" name="Footer Placeholder 2">
            <a:extLst>
              <a:ext uri="{FF2B5EF4-FFF2-40B4-BE49-F238E27FC236}">
                <a16:creationId xmlns:a16="http://schemas.microsoft.com/office/drawing/2014/main" id="{E6E610A1-6F3C-4ED4-95FC-3D518F45B3E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EFEFB9-29CF-4A54-B2AB-D1A91D1D512C}"/>
              </a:ext>
            </a:extLst>
          </p:cNvPr>
          <p:cNvSpPr>
            <a:spLocks noGrp="1"/>
          </p:cNvSpPr>
          <p:nvPr>
            <p:ph type="sldNum" sz="quarter" idx="12"/>
          </p:nvPr>
        </p:nvSpPr>
        <p:spPr/>
        <p:txBody>
          <a:bodyPr/>
          <a:lstStyle/>
          <a:p>
            <a:fld id="{99024C6A-8125-45E8-BA50-8F3BFC53B722}" type="slidenum">
              <a:rPr lang="en-US" smtClean="0"/>
              <a:t>‹#›</a:t>
            </a:fld>
            <a:endParaRPr lang="en-US"/>
          </a:p>
        </p:txBody>
      </p:sp>
    </p:spTree>
    <p:extLst>
      <p:ext uri="{BB962C8B-B14F-4D97-AF65-F5344CB8AC3E}">
        <p14:creationId xmlns:p14="http://schemas.microsoft.com/office/powerpoint/2010/main" val="4075114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94C0B-2380-4202-94B3-3164D2636C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3296FA0-5660-489C-9368-7EDEEEE7AC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3398D0-4A2C-4FEA-9137-70148FBF33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202686-81F5-44FE-96FD-B6D81083B3F2}"/>
              </a:ext>
            </a:extLst>
          </p:cNvPr>
          <p:cNvSpPr>
            <a:spLocks noGrp="1"/>
          </p:cNvSpPr>
          <p:nvPr>
            <p:ph type="dt" sz="half" idx="10"/>
          </p:nvPr>
        </p:nvSpPr>
        <p:spPr/>
        <p:txBody>
          <a:bodyPr/>
          <a:lstStyle/>
          <a:p>
            <a:fld id="{0C12A418-F0E5-4A75-A5DC-C38970A138C5}" type="datetimeFigureOut">
              <a:rPr lang="en-US" smtClean="0"/>
              <a:t>9/25/2025</a:t>
            </a:fld>
            <a:endParaRPr lang="en-US"/>
          </a:p>
        </p:txBody>
      </p:sp>
      <p:sp>
        <p:nvSpPr>
          <p:cNvPr id="6" name="Footer Placeholder 5">
            <a:extLst>
              <a:ext uri="{FF2B5EF4-FFF2-40B4-BE49-F238E27FC236}">
                <a16:creationId xmlns:a16="http://schemas.microsoft.com/office/drawing/2014/main" id="{2DAF9EBA-1D8E-4D1A-AFF0-77E19B2ED9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B27994-34A6-428B-809E-56F4D18A16FA}"/>
              </a:ext>
            </a:extLst>
          </p:cNvPr>
          <p:cNvSpPr>
            <a:spLocks noGrp="1"/>
          </p:cNvSpPr>
          <p:nvPr>
            <p:ph type="sldNum" sz="quarter" idx="12"/>
          </p:nvPr>
        </p:nvSpPr>
        <p:spPr/>
        <p:txBody>
          <a:bodyPr/>
          <a:lstStyle/>
          <a:p>
            <a:fld id="{99024C6A-8125-45E8-BA50-8F3BFC53B722}" type="slidenum">
              <a:rPr lang="en-US" smtClean="0"/>
              <a:t>‹#›</a:t>
            </a:fld>
            <a:endParaRPr lang="en-US"/>
          </a:p>
        </p:txBody>
      </p:sp>
    </p:spTree>
    <p:extLst>
      <p:ext uri="{BB962C8B-B14F-4D97-AF65-F5344CB8AC3E}">
        <p14:creationId xmlns:p14="http://schemas.microsoft.com/office/powerpoint/2010/main" val="3506293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D00D8-9D4F-4106-9B20-4236892E2E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BA0030-A2D7-4C29-BDC8-A157E5AFDF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73CCD5-A383-4B2D-8EE0-70F9E1C9F5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F0C1AF-8C4D-4F99-9495-4183153551F7}"/>
              </a:ext>
            </a:extLst>
          </p:cNvPr>
          <p:cNvSpPr>
            <a:spLocks noGrp="1"/>
          </p:cNvSpPr>
          <p:nvPr>
            <p:ph type="dt" sz="half" idx="10"/>
          </p:nvPr>
        </p:nvSpPr>
        <p:spPr/>
        <p:txBody>
          <a:bodyPr/>
          <a:lstStyle/>
          <a:p>
            <a:fld id="{0C12A418-F0E5-4A75-A5DC-C38970A138C5}" type="datetimeFigureOut">
              <a:rPr lang="en-US" smtClean="0"/>
              <a:t>9/25/2025</a:t>
            </a:fld>
            <a:endParaRPr lang="en-US"/>
          </a:p>
        </p:txBody>
      </p:sp>
      <p:sp>
        <p:nvSpPr>
          <p:cNvPr id="6" name="Footer Placeholder 5">
            <a:extLst>
              <a:ext uri="{FF2B5EF4-FFF2-40B4-BE49-F238E27FC236}">
                <a16:creationId xmlns:a16="http://schemas.microsoft.com/office/drawing/2014/main" id="{A3F1B103-7EC3-400D-A6BC-745F66CCDF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AA0B6C-E3DB-4D93-9B3F-F9582E36516B}"/>
              </a:ext>
            </a:extLst>
          </p:cNvPr>
          <p:cNvSpPr>
            <a:spLocks noGrp="1"/>
          </p:cNvSpPr>
          <p:nvPr>
            <p:ph type="sldNum" sz="quarter" idx="12"/>
          </p:nvPr>
        </p:nvSpPr>
        <p:spPr/>
        <p:txBody>
          <a:bodyPr/>
          <a:lstStyle/>
          <a:p>
            <a:fld id="{99024C6A-8125-45E8-BA50-8F3BFC53B722}" type="slidenum">
              <a:rPr lang="en-US" smtClean="0"/>
              <a:t>‹#›</a:t>
            </a:fld>
            <a:endParaRPr lang="en-US"/>
          </a:p>
        </p:txBody>
      </p:sp>
    </p:spTree>
    <p:extLst>
      <p:ext uri="{BB962C8B-B14F-4D97-AF65-F5344CB8AC3E}">
        <p14:creationId xmlns:p14="http://schemas.microsoft.com/office/powerpoint/2010/main" val="2111347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73677-932F-4E7C-AC38-3406ED68AC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8D0AD5-19FE-43AC-8319-FB9E377BF9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E1B041-FB56-4A1E-8602-10BBE8BCAC48}"/>
              </a:ext>
            </a:extLst>
          </p:cNvPr>
          <p:cNvSpPr>
            <a:spLocks noGrp="1"/>
          </p:cNvSpPr>
          <p:nvPr>
            <p:ph type="dt" sz="half" idx="10"/>
          </p:nvPr>
        </p:nvSpPr>
        <p:spPr/>
        <p:txBody>
          <a:bodyPr/>
          <a:lstStyle/>
          <a:p>
            <a:fld id="{0C12A418-F0E5-4A75-A5DC-C38970A138C5}" type="datetimeFigureOut">
              <a:rPr lang="en-US" smtClean="0"/>
              <a:t>9/25/2025</a:t>
            </a:fld>
            <a:endParaRPr lang="en-US"/>
          </a:p>
        </p:txBody>
      </p:sp>
      <p:sp>
        <p:nvSpPr>
          <p:cNvPr id="5" name="Footer Placeholder 4">
            <a:extLst>
              <a:ext uri="{FF2B5EF4-FFF2-40B4-BE49-F238E27FC236}">
                <a16:creationId xmlns:a16="http://schemas.microsoft.com/office/drawing/2014/main" id="{9B884025-529D-4430-8722-982803FECD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9F8E57-1113-47BE-B4ED-0F343A8DF258}"/>
              </a:ext>
            </a:extLst>
          </p:cNvPr>
          <p:cNvSpPr>
            <a:spLocks noGrp="1"/>
          </p:cNvSpPr>
          <p:nvPr>
            <p:ph type="sldNum" sz="quarter" idx="12"/>
          </p:nvPr>
        </p:nvSpPr>
        <p:spPr/>
        <p:txBody>
          <a:bodyPr/>
          <a:lstStyle/>
          <a:p>
            <a:fld id="{99024C6A-8125-45E8-BA50-8F3BFC53B722}" type="slidenum">
              <a:rPr lang="en-US" smtClean="0"/>
              <a:t>‹#›</a:t>
            </a:fld>
            <a:endParaRPr lang="en-US"/>
          </a:p>
        </p:txBody>
      </p:sp>
    </p:spTree>
    <p:extLst>
      <p:ext uri="{BB962C8B-B14F-4D97-AF65-F5344CB8AC3E}">
        <p14:creationId xmlns:p14="http://schemas.microsoft.com/office/powerpoint/2010/main" val="1124066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AE69B7-F834-4C6D-A616-E1CD9DE4F3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ED1B1A-0CB4-4A45-BB3A-CC7BB04820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88F4C4-20FA-4A17-B599-EF474670CA02}"/>
              </a:ext>
            </a:extLst>
          </p:cNvPr>
          <p:cNvSpPr>
            <a:spLocks noGrp="1"/>
          </p:cNvSpPr>
          <p:nvPr>
            <p:ph type="dt" sz="half" idx="10"/>
          </p:nvPr>
        </p:nvSpPr>
        <p:spPr/>
        <p:txBody>
          <a:bodyPr/>
          <a:lstStyle/>
          <a:p>
            <a:fld id="{0C12A418-F0E5-4A75-A5DC-C38970A138C5}" type="datetimeFigureOut">
              <a:rPr lang="en-US" smtClean="0"/>
              <a:t>9/25/2025</a:t>
            </a:fld>
            <a:endParaRPr lang="en-US"/>
          </a:p>
        </p:txBody>
      </p:sp>
      <p:sp>
        <p:nvSpPr>
          <p:cNvPr id="5" name="Footer Placeholder 4">
            <a:extLst>
              <a:ext uri="{FF2B5EF4-FFF2-40B4-BE49-F238E27FC236}">
                <a16:creationId xmlns:a16="http://schemas.microsoft.com/office/drawing/2014/main" id="{0A4D22F5-E2FF-472D-AF0F-B5BCEEB58D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41597C-21C5-409D-9D2D-43B6086C8F0E}"/>
              </a:ext>
            </a:extLst>
          </p:cNvPr>
          <p:cNvSpPr>
            <a:spLocks noGrp="1"/>
          </p:cNvSpPr>
          <p:nvPr>
            <p:ph type="sldNum" sz="quarter" idx="12"/>
          </p:nvPr>
        </p:nvSpPr>
        <p:spPr/>
        <p:txBody>
          <a:bodyPr/>
          <a:lstStyle/>
          <a:p>
            <a:fld id="{99024C6A-8125-45E8-BA50-8F3BFC53B722}" type="slidenum">
              <a:rPr lang="en-US" smtClean="0"/>
              <a:t>‹#›</a:t>
            </a:fld>
            <a:endParaRPr lang="en-US"/>
          </a:p>
        </p:txBody>
      </p:sp>
    </p:spTree>
    <p:extLst>
      <p:ext uri="{BB962C8B-B14F-4D97-AF65-F5344CB8AC3E}">
        <p14:creationId xmlns:p14="http://schemas.microsoft.com/office/powerpoint/2010/main" val="2527372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B6AE6A-EB68-44D8-BC59-2670B11F58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BD9DC3D-3D37-4ABC-9D25-C97DF89356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768C35-CDE3-4658-9151-26DF805E2F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12A418-F0E5-4A75-A5DC-C38970A138C5}" type="datetimeFigureOut">
              <a:rPr lang="en-US" smtClean="0"/>
              <a:t>9/25/2025</a:t>
            </a:fld>
            <a:endParaRPr lang="en-US"/>
          </a:p>
        </p:txBody>
      </p:sp>
      <p:sp>
        <p:nvSpPr>
          <p:cNvPr id="5" name="Footer Placeholder 4">
            <a:extLst>
              <a:ext uri="{FF2B5EF4-FFF2-40B4-BE49-F238E27FC236}">
                <a16:creationId xmlns:a16="http://schemas.microsoft.com/office/drawing/2014/main" id="{2D281230-B827-449D-AC8D-0F44440C22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B4F85B4-9BB2-4F95-A54E-6F0992A402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024C6A-8125-45E8-BA50-8F3BFC53B722}" type="slidenum">
              <a:rPr lang="en-US" smtClean="0"/>
              <a:t>‹#›</a:t>
            </a:fld>
            <a:endParaRPr lang="en-US"/>
          </a:p>
        </p:txBody>
      </p:sp>
    </p:spTree>
    <p:extLst>
      <p:ext uri="{BB962C8B-B14F-4D97-AF65-F5344CB8AC3E}">
        <p14:creationId xmlns:p14="http://schemas.microsoft.com/office/powerpoint/2010/main" val="1781678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collinsdictionary.com/dictionary/english/illega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C94CC-30A7-49DC-8C7C-864B653603D4}"/>
              </a:ext>
            </a:extLst>
          </p:cNvPr>
          <p:cNvSpPr>
            <a:spLocks noGrp="1"/>
          </p:cNvSpPr>
          <p:nvPr>
            <p:ph type="ctrTitle"/>
          </p:nvPr>
        </p:nvSpPr>
        <p:spPr>
          <a:xfrm>
            <a:off x="1524000" y="878889"/>
            <a:ext cx="9144000" cy="1784412"/>
          </a:xfrm>
        </p:spPr>
        <p:txBody>
          <a:bodyPr>
            <a:normAutofit/>
          </a:bodyPr>
          <a:lstStyle/>
          <a:p>
            <a:r>
              <a:rPr lang="en-US" dirty="0">
                <a:latin typeface="Times New Roman" panose="02020603050405020304" pitchFamily="18" charset="0"/>
                <a:cs typeface="Times New Roman" panose="02020603050405020304" pitchFamily="18" charset="0"/>
              </a:rPr>
              <a:t>Topic: Crime and deviance</a:t>
            </a:r>
            <a:br>
              <a:rPr lang="en-US" dirty="0"/>
            </a:br>
            <a:endParaRPr lang="en-US" dirty="0"/>
          </a:p>
        </p:txBody>
      </p:sp>
      <p:sp>
        <p:nvSpPr>
          <p:cNvPr id="3" name="Subtitle 2">
            <a:extLst>
              <a:ext uri="{FF2B5EF4-FFF2-40B4-BE49-F238E27FC236}">
                <a16:creationId xmlns:a16="http://schemas.microsoft.com/office/drawing/2014/main" id="{8532A762-E867-4F5B-A132-5F1AFC862A84}"/>
              </a:ext>
            </a:extLst>
          </p:cNvPr>
          <p:cNvSpPr>
            <a:spLocks noGrp="1"/>
          </p:cNvSpPr>
          <p:nvPr>
            <p:ph type="subTitle" idx="1"/>
          </p:nvPr>
        </p:nvSpPr>
        <p:spPr>
          <a:xfrm>
            <a:off x="1524000" y="3204839"/>
            <a:ext cx="9144000" cy="2052961"/>
          </a:xfrm>
        </p:spPr>
        <p:txBody>
          <a:bodyPr/>
          <a:lstStyle/>
          <a:p>
            <a:pPr algn="ctr">
              <a:buNone/>
            </a:pPr>
            <a:r>
              <a:rPr lang="en-US" sz="2400" b="1" dirty="0" err="1">
                <a:latin typeface="Times New Roman" panose="02020603050405020304" pitchFamily="18" charset="0"/>
                <a:cs typeface="Times New Roman" panose="02020603050405020304" pitchFamily="18" charset="0"/>
              </a:rPr>
              <a:t>Ety</a:t>
            </a:r>
            <a:r>
              <a:rPr lang="en-US" sz="2400" b="1" dirty="0">
                <a:latin typeface="Times New Roman" panose="02020603050405020304" pitchFamily="18" charset="0"/>
                <a:cs typeface="Times New Roman" panose="02020603050405020304" pitchFamily="18" charset="0"/>
              </a:rPr>
              <a:t> Rani</a:t>
            </a:r>
          </a:p>
          <a:p>
            <a:pPr algn="ctr">
              <a:buNone/>
            </a:pPr>
            <a:r>
              <a:rPr lang="en-US" sz="2400" b="1" dirty="0">
                <a:latin typeface="Times New Roman" panose="02020603050405020304" pitchFamily="18" charset="0"/>
                <a:cs typeface="Times New Roman" panose="02020603050405020304" pitchFamily="18" charset="0"/>
              </a:rPr>
              <a:t>Assistant Professor</a:t>
            </a:r>
          </a:p>
          <a:p>
            <a:pPr algn="ctr">
              <a:buNone/>
            </a:pPr>
            <a:r>
              <a:rPr lang="en-US" sz="2400" b="1" dirty="0">
                <a:latin typeface="Times New Roman" panose="02020603050405020304" pitchFamily="18" charset="0"/>
                <a:cs typeface="Times New Roman" panose="02020603050405020304" pitchFamily="18" charset="0"/>
              </a:rPr>
              <a:t>Sociology Discipline</a:t>
            </a:r>
          </a:p>
          <a:p>
            <a:pPr algn="ctr">
              <a:buNone/>
            </a:pPr>
            <a:r>
              <a:rPr lang="en-US" sz="2400" b="1" dirty="0">
                <a:latin typeface="Times New Roman" panose="02020603050405020304" pitchFamily="18" charset="0"/>
                <a:cs typeface="Times New Roman" panose="02020603050405020304" pitchFamily="18" charset="0"/>
              </a:rPr>
              <a:t>Khulna University</a:t>
            </a:r>
          </a:p>
          <a:p>
            <a:endParaRPr lang="en-US" dirty="0"/>
          </a:p>
        </p:txBody>
      </p:sp>
    </p:spTree>
    <p:extLst>
      <p:ext uri="{BB962C8B-B14F-4D97-AF65-F5344CB8AC3E}">
        <p14:creationId xmlns:p14="http://schemas.microsoft.com/office/powerpoint/2010/main" val="3686340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5945D-353B-4032-8A7F-97DF85A06AA5}"/>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Crime</a:t>
            </a:r>
          </a:p>
        </p:txBody>
      </p:sp>
      <p:sp>
        <p:nvSpPr>
          <p:cNvPr id="3" name="Content Placeholder 2">
            <a:extLst>
              <a:ext uri="{FF2B5EF4-FFF2-40B4-BE49-F238E27FC236}">
                <a16:creationId xmlns:a16="http://schemas.microsoft.com/office/drawing/2014/main" id="{BF56A196-D6C8-4A12-BE0C-50A035739217}"/>
              </a:ext>
            </a:extLst>
          </p:cNvPr>
          <p:cNvSpPr>
            <a:spLocks noGrp="1"/>
          </p:cNvSpPr>
          <p:nvPr>
            <p:ph idx="1"/>
          </p:nvPr>
        </p:nvSpPr>
        <p:spPr/>
        <p:txBody>
          <a:bodyPr>
            <a:normAutofit lnSpcReduction="10000"/>
          </a:bodyPr>
          <a:lstStyle/>
          <a:p>
            <a:pPr algn="just"/>
            <a:r>
              <a:rPr lang="en-US" sz="3600" b="0" dirty="0">
                <a:effectLst/>
                <a:latin typeface="Times New Roman" panose="02020603050405020304" pitchFamily="18" charset="0"/>
                <a:cs typeface="Times New Roman" panose="02020603050405020304" pitchFamily="18" charset="0"/>
              </a:rPr>
              <a:t>A </a:t>
            </a:r>
            <a:r>
              <a:rPr lang="en-US" sz="3600" b="1" dirty="0">
                <a:effectLst/>
                <a:latin typeface="Times New Roman" panose="02020603050405020304" pitchFamily="18" charset="0"/>
                <a:cs typeface="Times New Roman" panose="02020603050405020304" pitchFamily="18" charset="0"/>
              </a:rPr>
              <a:t>crime</a:t>
            </a:r>
            <a:r>
              <a:rPr lang="en-US" sz="3600" b="0" dirty="0">
                <a:effectLst/>
                <a:latin typeface="Times New Roman" panose="02020603050405020304" pitchFamily="18" charset="0"/>
                <a:cs typeface="Times New Roman" panose="02020603050405020304" pitchFamily="18" charset="0"/>
              </a:rPr>
              <a:t> is an </a:t>
            </a:r>
            <a:r>
              <a:rPr lang="en-US" sz="3600" b="0" u="none" strike="noStrike" dirty="0">
                <a:effectLst/>
                <a:latin typeface="Times New Roman" panose="02020603050405020304" pitchFamily="18" charset="0"/>
                <a:cs typeface="Times New Roman" panose="02020603050405020304" pitchFamily="18" charset="0"/>
                <a:hlinkClick r:id="rId2" tooltip="Definition of illegal">
                  <a:extLst>
                    <a:ext uri="{A12FA001-AC4F-418D-AE19-62706E023703}">
                      <ahyp:hlinkClr xmlns:ahyp="http://schemas.microsoft.com/office/drawing/2018/hyperlinkcolor" val="tx"/>
                    </a:ext>
                  </a:extLst>
                </a:hlinkClick>
              </a:rPr>
              <a:t>illegal</a:t>
            </a:r>
            <a:r>
              <a:rPr lang="en-US" sz="3600" b="0" dirty="0">
                <a:effectLst/>
                <a:latin typeface="Times New Roman" panose="02020603050405020304" pitchFamily="18" charset="0"/>
                <a:cs typeface="Times New Roman" panose="02020603050405020304" pitchFamily="18" charset="0"/>
              </a:rPr>
              <a:t> action or activity for which a person can be punished by law.</a:t>
            </a:r>
          </a:p>
          <a:p>
            <a:pPr algn="just"/>
            <a:r>
              <a:rPr lang="en-US" sz="3600" dirty="0">
                <a:latin typeface="Times New Roman" panose="02020603050405020304" pitchFamily="18" charset="0"/>
                <a:cs typeface="Times New Roman" panose="02020603050405020304" pitchFamily="18" charset="0"/>
              </a:rPr>
              <a:t>Robertson said that “A crime is an act that has been prohibited by a political authority, usually through the enactment of a law.”</a:t>
            </a:r>
          </a:p>
          <a:p>
            <a:pPr algn="just"/>
            <a:r>
              <a:rPr lang="en-US" sz="3600" dirty="0">
                <a:latin typeface="Times New Roman" panose="02020603050405020304" pitchFamily="18" charset="0"/>
                <a:cs typeface="Times New Roman" panose="02020603050405020304" pitchFamily="18" charset="0"/>
              </a:rPr>
              <a:t>J. Shepard (Sociology, 1981) said that “ Crimes are acts that are in violation of the law.”</a:t>
            </a:r>
          </a:p>
          <a:p>
            <a:pPr algn="just"/>
            <a:r>
              <a:rPr lang="en-US" sz="3600" dirty="0">
                <a:latin typeface="Times New Roman" panose="02020603050405020304" pitchFamily="18" charset="0"/>
                <a:cs typeface="Times New Roman" panose="02020603050405020304" pitchFamily="18" charset="0"/>
              </a:rPr>
              <a:t>Example- Stealing,  murder, corruption etc.</a:t>
            </a:r>
          </a:p>
          <a:p>
            <a:pPr algn="just"/>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1420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6"/>
            <a:ext cx="10515600" cy="851116"/>
          </a:xfrm>
        </p:spPr>
        <p:txBody>
          <a:bodyPr>
            <a:normAutofit fontScale="90000"/>
          </a:bodyPr>
          <a:lstStyle/>
          <a:p>
            <a:r>
              <a:rPr lang="en-US" sz="4000" b="1" dirty="0">
                <a:latin typeface="Times New Roman" pitchFamily="18" charset="0"/>
                <a:cs typeface="Times New Roman" pitchFamily="18" charset="0"/>
              </a:rPr>
              <a:t>The causes and consequences of crime</a:t>
            </a:r>
            <a:br>
              <a:rPr lang="en-US" sz="4000" b="1" dirty="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2" name="Content Placeholder 1"/>
          <p:cNvSpPr>
            <a:spLocks noGrp="1"/>
          </p:cNvSpPr>
          <p:nvPr>
            <p:ph idx="1"/>
          </p:nvPr>
        </p:nvSpPr>
        <p:spPr>
          <a:xfrm>
            <a:off x="838200" y="1216242"/>
            <a:ext cx="10515600" cy="4960721"/>
          </a:xfrm>
        </p:spPr>
        <p:txBody>
          <a:bodyPr>
            <a:normAutofit lnSpcReduction="10000"/>
          </a:bodyPr>
          <a:lstStyle/>
          <a:p>
            <a:r>
              <a:rPr lang="en-US" sz="3200" b="1" dirty="0">
                <a:latin typeface="Times New Roman" pitchFamily="18" charset="0"/>
                <a:cs typeface="Times New Roman" pitchFamily="18" charset="0"/>
              </a:rPr>
              <a:t>The causes of crime:</a:t>
            </a:r>
          </a:p>
          <a:p>
            <a:pPr algn="just"/>
            <a:r>
              <a:rPr lang="en-US" sz="2000" dirty="0">
                <a:latin typeface="Times New Roman" pitchFamily="18" charset="0"/>
                <a:cs typeface="Times New Roman" pitchFamily="18" charset="0"/>
              </a:rPr>
              <a:t>Economic insecurity</a:t>
            </a:r>
          </a:p>
          <a:p>
            <a:pPr algn="just"/>
            <a:r>
              <a:rPr lang="en-US" sz="2000" dirty="0">
                <a:latin typeface="Times New Roman" pitchFamily="18" charset="0"/>
                <a:cs typeface="Times New Roman" pitchFamily="18" charset="0"/>
              </a:rPr>
              <a:t>High rate of  population rate</a:t>
            </a:r>
          </a:p>
          <a:p>
            <a:pPr algn="just"/>
            <a:r>
              <a:rPr lang="en-US" sz="2000" dirty="0">
                <a:latin typeface="Times New Roman" pitchFamily="18" charset="0"/>
                <a:cs typeface="Times New Roman" pitchFamily="18" charset="0"/>
              </a:rPr>
              <a:t>Geographical cause</a:t>
            </a:r>
          </a:p>
          <a:p>
            <a:pPr algn="just"/>
            <a:r>
              <a:rPr lang="en-US" sz="2000" dirty="0">
                <a:latin typeface="Times New Roman" pitchFamily="18" charset="0"/>
                <a:cs typeface="Times New Roman" pitchFamily="18" charset="0"/>
              </a:rPr>
              <a:t>Unemployment</a:t>
            </a:r>
          </a:p>
          <a:p>
            <a:pPr algn="just"/>
            <a:r>
              <a:rPr lang="en-US" sz="2000" dirty="0">
                <a:latin typeface="Times New Roman" pitchFamily="18" charset="0"/>
                <a:cs typeface="Times New Roman" pitchFamily="18" charset="0"/>
              </a:rPr>
              <a:t>Weaken administrative capacity</a:t>
            </a:r>
          </a:p>
          <a:p>
            <a:pPr algn="just"/>
            <a:r>
              <a:rPr lang="en-US" sz="2000" dirty="0">
                <a:latin typeface="Times New Roman" pitchFamily="18" charset="0"/>
                <a:cs typeface="Times New Roman" pitchFamily="18" charset="0"/>
              </a:rPr>
              <a:t>Decline of morality</a:t>
            </a:r>
          </a:p>
          <a:p>
            <a:pPr algn="just"/>
            <a:r>
              <a:rPr lang="en-US" sz="2400" b="1" dirty="0">
                <a:latin typeface="Times New Roman" pitchFamily="18" charset="0"/>
                <a:cs typeface="Times New Roman" pitchFamily="18" charset="0"/>
              </a:rPr>
              <a:t>The consequences of  crime:</a:t>
            </a:r>
          </a:p>
          <a:p>
            <a:pPr algn="just"/>
            <a:r>
              <a:rPr lang="en-US" sz="2000" dirty="0">
                <a:latin typeface="Times New Roman" pitchFamily="18" charset="0"/>
                <a:cs typeface="Times New Roman" pitchFamily="18" charset="0"/>
              </a:rPr>
              <a:t>Social disorganization</a:t>
            </a:r>
          </a:p>
          <a:p>
            <a:pPr algn="just"/>
            <a:r>
              <a:rPr lang="en-US" sz="2000" dirty="0">
                <a:latin typeface="Times New Roman" pitchFamily="18" charset="0"/>
                <a:cs typeface="Times New Roman" pitchFamily="18" charset="0"/>
              </a:rPr>
              <a:t>Breakdown  social stability</a:t>
            </a:r>
          </a:p>
          <a:p>
            <a:pPr algn="just"/>
            <a:r>
              <a:rPr lang="en-US" sz="2000" dirty="0">
                <a:latin typeface="Times New Roman" pitchFamily="18" charset="0"/>
                <a:cs typeface="Times New Roman" pitchFamily="18" charset="0"/>
              </a:rPr>
              <a:t>Disturbance  in democracy</a:t>
            </a:r>
          </a:p>
          <a:p>
            <a:pPr algn="just"/>
            <a:r>
              <a:rPr lang="en-US" sz="2000" dirty="0">
                <a:latin typeface="Times New Roman" pitchFamily="18" charset="0"/>
                <a:cs typeface="Times New Roman" pitchFamily="18" charset="0"/>
              </a:rPr>
              <a:t>Increasing number of criminal activities.</a:t>
            </a:r>
          </a:p>
        </p:txBody>
      </p:sp>
      <p:sp>
        <p:nvSpPr>
          <p:cNvPr id="3" name="Slide Number Placeholder 2"/>
          <p:cNvSpPr>
            <a:spLocks noGrp="1"/>
          </p:cNvSpPr>
          <p:nvPr>
            <p:ph type="sldNum" sz="quarter" idx="12"/>
          </p:nvPr>
        </p:nvSpPr>
        <p:spPr/>
        <p:txBody>
          <a:bodyPr/>
          <a:lstStyle/>
          <a:p>
            <a:fld id="{E0918BA3-5B76-487B-A56D-A4051D270562}" type="slidenum">
              <a:rPr lang="es-ES" smtClean="0"/>
              <a:pPr/>
              <a:t>3</a:t>
            </a:fld>
            <a:endParaRPr lang="es-E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D4F0A-40FB-405F-91A3-DE557DB514A0}"/>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Deviance</a:t>
            </a:r>
          </a:p>
        </p:txBody>
      </p:sp>
      <p:sp>
        <p:nvSpPr>
          <p:cNvPr id="3" name="Content Placeholder 2">
            <a:extLst>
              <a:ext uri="{FF2B5EF4-FFF2-40B4-BE49-F238E27FC236}">
                <a16:creationId xmlns:a16="http://schemas.microsoft.com/office/drawing/2014/main" id="{416234D2-BCB9-47E5-B018-22EE0350E5DB}"/>
              </a:ext>
            </a:extLst>
          </p:cNvPr>
          <p:cNvSpPr>
            <a:spLocks noGrp="1"/>
          </p:cNvSpPr>
          <p:nvPr>
            <p:ph idx="1"/>
          </p:nvPr>
        </p:nvSpPr>
        <p:spPr/>
        <p:txBody>
          <a:bodyPr>
            <a:normAutofit/>
          </a:bodyPr>
          <a:lstStyle/>
          <a:p>
            <a:pPr algn="just"/>
            <a:r>
              <a:rPr lang="en-US" sz="3200" b="0" i="0" dirty="0">
                <a:solidFill>
                  <a:srgbClr val="292C2E"/>
                </a:solidFill>
                <a:effectLst/>
                <a:latin typeface="Times New Roman" panose="02020603050405020304" pitchFamily="18" charset="0"/>
                <a:cs typeface="Times New Roman" panose="02020603050405020304" pitchFamily="18" charset="0"/>
              </a:rPr>
              <a:t>The word </a:t>
            </a:r>
            <a:r>
              <a:rPr lang="en-US" sz="3200" b="0" i="1" dirty="0">
                <a:solidFill>
                  <a:srgbClr val="292C2E"/>
                </a:solidFill>
                <a:effectLst/>
                <a:latin typeface="Times New Roman" panose="02020603050405020304" pitchFamily="18" charset="0"/>
                <a:cs typeface="Times New Roman" panose="02020603050405020304" pitchFamily="18" charset="0"/>
              </a:rPr>
              <a:t>deviance</a:t>
            </a:r>
            <a:r>
              <a:rPr lang="en-US" sz="3200" b="0" i="0" dirty="0">
                <a:solidFill>
                  <a:srgbClr val="292C2E"/>
                </a:solidFill>
                <a:effectLst/>
                <a:latin typeface="Times New Roman" panose="02020603050405020304" pitchFamily="18" charset="0"/>
                <a:cs typeface="Times New Roman" panose="02020603050405020304" pitchFamily="18" charset="0"/>
              </a:rPr>
              <a:t> connotes odd or unacceptable behavior, but in the sociological sense of the word, </a:t>
            </a:r>
            <a:r>
              <a:rPr lang="en-US" sz="3200" b="1" i="0" dirty="0">
                <a:solidFill>
                  <a:srgbClr val="292C2E"/>
                </a:solidFill>
                <a:effectLst/>
                <a:latin typeface="Times New Roman" panose="02020603050405020304" pitchFamily="18" charset="0"/>
                <a:cs typeface="Times New Roman" panose="02020603050405020304" pitchFamily="18" charset="0"/>
              </a:rPr>
              <a:t>Deviance</a:t>
            </a:r>
            <a:r>
              <a:rPr lang="en-US" sz="3200" b="0" i="0" dirty="0">
                <a:solidFill>
                  <a:srgbClr val="292C2E"/>
                </a:solidFill>
                <a:effectLst/>
                <a:latin typeface="Times New Roman" panose="02020603050405020304" pitchFamily="18" charset="0"/>
                <a:cs typeface="Times New Roman" panose="02020603050405020304" pitchFamily="18" charset="0"/>
              </a:rPr>
              <a:t> is simply any violation of society’s norms. </a:t>
            </a:r>
          </a:p>
          <a:p>
            <a:pPr algn="just"/>
            <a:r>
              <a:rPr lang="en-US" sz="3200" dirty="0">
                <a:solidFill>
                  <a:srgbClr val="292C2E"/>
                </a:solidFill>
                <a:latin typeface="Times New Roman" panose="02020603050405020304" pitchFamily="18" charset="0"/>
                <a:cs typeface="Times New Roman" panose="02020603050405020304" pitchFamily="18" charset="0"/>
              </a:rPr>
              <a:t>Popenoe (Sociology, 1986) said that “Deviance is a behavior that violates the social norms of a group of society.”</a:t>
            </a:r>
          </a:p>
          <a:p>
            <a:pPr algn="just"/>
            <a:r>
              <a:rPr lang="en-US" sz="3200" dirty="0">
                <a:solidFill>
                  <a:srgbClr val="292C2E"/>
                </a:solidFill>
                <a:latin typeface="Times New Roman" panose="02020603050405020304" pitchFamily="18" charset="0"/>
                <a:cs typeface="Times New Roman" panose="02020603050405020304" pitchFamily="18" charset="0"/>
              </a:rPr>
              <a:t>R.T. Schaefer (Sociology) said that “Deviance is a behavior that violates the standards of conduct or expectations of a group or society.”</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1407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FB5BC-BBB4-4E67-99CF-EC7AACF59D80}"/>
              </a:ext>
            </a:extLst>
          </p:cNvPr>
          <p:cNvSpPr>
            <a:spLocks noGrp="1"/>
          </p:cNvSpPr>
          <p:nvPr>
            <p:ph type="title"/>
          </p:nvPr>
        </p:nvSpPr>
        <p:spPr>
          <a:xfrm>
            <a:off x="838200" y="164593"/>
            <a:ext cx="10515600" cy="804671"/>
          </a:xfrm>
        </p:spPr>
        <p:txBody>
          <a:bodyPr>
            <a:normAutofit/>
          </a:bodyPr>
          <a:lstStyle/>
          <a:p>
            <a:r>
              <a:rPr lang="en-US" sz="4000" b="1" dirty="0">
                <a:latin typeface="Times New Roman" panose="02020603050405020304" pitchFamily="18" charset="0"/>
                <a:cs typeface="Times New Roman" panose="02020603050405020304" pitchFamily="18" charset="0"/>
              </a:rPr>
              <a:t>Differences between deviance and crime</a:t>
            </a:r>
          </a:p>
        </p:txBody>
      </p:sp>
      <p:graphicFrame>
        <p:nvGraphicFramePr>
          <p:cNvPr id="4" name="Content Placeholder 3">
            <a:extLst>
              <a:ext uri="{FF2B5EF4-FFF2-40B4-BE49-F238E27FC236}">
                <a16:creationId xmlns:a16="http://schemas.microsoft.com/office/drawing/2014/main" id="{FD45BB79-3FD7-40D9-9689-03B3A22C8E8C}"/>
              </a:ext>
            </a:extLst>
          </p:cNvPr>
          <p:cNvGraphicFramePr>
            <a:graphicFrameLocks noGrp="1"/>
          </p:cNvGraphicFramePr>
          <p:nvPr>
            <p:ph idx="1"/>
            <p:extLst>
              <p:ext uri="{D42A27DB-BD31-4B8C-83A1-F6EECF244321}">
                <p14:modId xmlns:p14="http://schemas.microsoft.com/office/powerpoint/2010/main" val="4135722427"/>
              </p:ext>
            </p:extLst>
          </p:nvPr>
        </p:nvGraphicFramePr>
        <p:xfrm>
          <a:off x="1097280" y="1197864"/>
          <a:ext cx="9153144" cy="5698710"/>
        </p:xfrm>
        <a:graphic>
          <a:graphicData uri="http://schemas.openxmlformats.org/drawingml/2006/table">
            <a:tbl>
              <a:tblPr/>
              <a:tblGrid>
                <a:gridCol w="2449432">
                  <a:extLst>
                    <a:ext uri="{9D8B030D-6E8A-4147-A177-3AD203B41FA5}">
                      <a16:colId xmlns:a16="http://schemas.microsoft.com/office/drawing/2014/main" val="1760259252"/>
                    </a:ext>
                  </a:extLst>
                </a:gridCol>
                <a:gridCol w="3510524">
                  <a:extLst>
                    <a:ext uri="{9D8B030D-6E8A-4147-A177-3AD203B41FA5}">
                      <a16:colId xmlns:a16="http://schemas.microsoft.com/office/drawing/2014/main" val="1376557360"/>
                    </a:ext>
                  </a:extLst>
                </a:gridCol>
                <a:gridCol w="3193188">
                  <a:extLst>
                    <a:ext uri="{9D8B030D-6E8A-4147-A177-3AD203B41FA5}">
                      <a16:colId xmlns:a16="http://schemas.microsoft.com/office/drawing/2014/main" val="2662757965"/>
                    </a:ext>
                  </a:extLst>
                </a:gridCol>
              </a:tblGrid>
              <a:tr h="583929">
                <a:tc>
                  <a:txBody>
                    <a:bodyPr/>
                    <a:lstStyle/>
                    <a:p>
                      <a:pPr algn="ctr" fontAlgn="ctr"/>
                      <a:r>
                        <a:rPr lang="en-US" sz="1800" b="1" cap="all" dirty="0">
                          <a:effectLst/>
                          <a:latin typeface="Times New Roman" panose="02020603050405020304" pitchFamily="18" charset="0"/>
                          <a:cs typeface="Times New Roman" panose="02020603050405020304" pitchFamily="18" charset="0"/>
                        </a:rPr>
                        <a:t>BASIS FOR COMPARISON</a:t>
                      </a:r>
                    </a:p>
                  </a:txBody>
                  <a:tcPr marL="28817" marR="28817" marT="28817" marB="28817" anchor="ctr">
                    <a:lnL>
                      <a:noFill/>
                    </a:lnL>
                    <a:lnR>
                      <a:noFill/>
                    </a:lnR>
                    <a:lnT>
                      <a:noFill/>
                    </a:lnT>
                    <a:lnB w="7620" cap="flat" cmpd="sng" algn="ctr">
                      <a:solidFill>
                        <a:srgbClr val="DDDDDD"/>
                      </a:solidFill>
                      <a:prstDash val="solid"/>
                      <a:round/>
                      <a:headEnd type="none" w="med" len="med"/>
                      <a:tailEnd type="none" w="med" len="med"/>
                    </a:lnB>
                    <a:solidFill>
                      <a:srgbClr val="D9EDF7"/>
                    </a:solidFill>
                  </a:tcPr>
                </a:tc>
                <a:tc>
                  <a:txBody>
                    <a:bodyPr/>
                    <a:lstStyle/>
                    <a:p>
                      <a:pPr algn="ctr" fontAlgn="ctr"/>
                      <a:r>
                        <a:rPr lang="en-US" sz="1800" b="1" cap="all" dirty="0">
                          <a:effectLst/>
                          <a:latin typeface="Times New Roman" panose="02020603050405020304" pitchFamily="18" charset="0"/>
                          <a:cs typeface="Times New Roman" panose="02020603050405020304" pitchFamily="18" charset="0"/>
                        </a:rPr>
                        <a:t>DEVIANCE</a:t>
                      </a:r>
                    </a:p>
                  </a:txBody>
                  <a:tcPr marL="28817" marR="28817" marT="28817" marB="28817" anchor="ctr">
                    <a:lnL>
                      <a:noFill/>
                    </a:lnL>
                    <a:lnR>
                      <a:noFill/>
                    </a:lnR>
                    <a:lnT>
                      <a:noFill/>
                    </a:lnT>
                    <a:lnB w="7620" cap="flat" cmpd="sng" algn="ctr">
                      <a:solidFill>
                        <a:srgbClr val="DDDDDD"/>
                      </a:solidFill>
                      <a:prstDash val="solid"/>
                      <a:round/>
                      <a:headEnd type="none" w="med" len="med"/>
                      <a:tailEnd type="none" w="med" len="med"/>
                    </a:lnB>
                    <a:solidFill>
                      <a:srgbClr val="D9EDF7"/>
                    </a:solidFill>
                  </a:tcPr>
                </a:tc>
                <a:tc>
                  <a:txBody>
                    <a:bodyPr/>
                    <a:lstStyle/>
                    <a:p>
                      <a:pPr algn="ctr" fontAlgn="ctr"/>
                      <a:r>
                        <a:rPr lang="en-US" sz="1800" b="1" cap="all">
                          <a:effectLst/>
                          <a:latin typeface="Times New Roman" panose="02020603050405020304" pitchFamily="18" charset="0"/>
                          <a:cs typeface="Times New Roman" panose="02020603050405020304" pitchFamily="18" charset="0"/>
                        </a:rPr>
                        <a:t>CRIME</a:t>
                      </a:r>
                    </a:p>
                  </a:txBody>
                  <a:tcPr marL="28817" marR="28817" marT="28817" marB="28817" anchor="ctr">
                    <a:lnL>
                      <a:noFill/>
                    </a:lnL>
                    <a:lnR>
                      <a:noFill/>
                    </a:lnR>
                    <a:lnT>
                      <a:noFill/>
                    </a:lnT>
                    <a:lnB w="7620" cap="flat" cmpd="sng" algn="ctr">
                      <a:solidFill>
                        <a:srgbClr val="DDDDDD"/>
                      </a:solidFill>
                      <a:prstDash val="solid"/>
                      <a:round/>
                      <a:headEnd type="none" w="med" len="med"/>
                      <a:tailEnd type="none" w="med" len="med"/>
                    </a:lnB>
                    <a:solidFill>
                      <a:srgbClr val="D9EDF7"/>
                    </a:solidFill>
                  </a:tcPr>
                </a:tc>
                <a:extLst>
                  <a:ext uri="{0D108BD9-81ED-4DB2-BD59-A6C34878D82A}">
                    <a16:rowId xmlns:a16="http://schemas.microsoft.com/office/drawing/2014/main" val="2836208679"/>
                  </a:ext>
                </a:extLst>
              </a:tr>
              <a:tr h="1376558">
                <a:tc>
                  <a:txBody>
                    <a:bodyPr/>
                    <a:lstStyle/>
                    <a:p>
                      <a:pPr algn="l" fontAlgn="t"/>
                      <a:r>
                        <a:rPr lang="en-US" sz="1800" dirty="0">
                          <a:effectLst/>
                          <a:latin typeface="Times New Roman" panose="02020603050405020304" pitchFamily="18" charset="0"/>
                          <a:cs typeface="Times New Roman" panose="02020603050405020304" pitchFamily="18" charset="0"/>
                        </a:rPr>
                        <a:t>Meaning</a:t>
                      </a: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800" dirty="0">
                          <a:effectLst/>
                          <a:latin typeface="Times New Roman" panose="02020603050405020304" pitchFamily="18" charset="0"/>
                          <a:cs typeface="Times New Roman" panose="02020603050405020304" pitchFamily="18" charset="0"/>
                        </a:rPr>
                        <a:t>Deviance is when there is a non-conformity concerning the well established social and cultural norms and principles.</a:t>
                      </a: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800">
                          <a:effectLst/>
                          <a:latin typeface="Times New Roman" panose="02020603050405020304" pitchFamily="18" charset="0"/>
                          <a:cs typeface="Times New Roman" panose="02020603050405020304" pitchFamily="18" charset="0"/>
                        </a:rPr>
                        <a:t>Crime implies any illegal act or omission, which amounts to the violation of the law, often prosecuted by the state and punishable by law.</a:t>
                      </a: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770954218"/>
                  </a:ext>
                </a:extLst>
              </a:tr>
              <a:tr h="319719">
                <a:tc>
                  <a:txBody>
                    <a:bodyPr/>
                    <a:lstStyle/>
                    <a:p>
                      <a:pPr algn="l" fontAlgn="t"/>
                      <a:r>
                        <a:rPr lang="en-US" sz="1800">
                          <a:effectLst/>
                          <a:latin typeface="Times New Roman" panose="02020603050405020304" pitchFamily="18" charset="0"/>
                          <a:cs typeface="Times New Roman" panose="02020603050405020304" pitchFamily="18" charset="0"/>
                        </a:rPr>
                        <a:t>Documentation</a:t>
                      </a: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800" dirty="0">
                          <a:effectLst/>
                          <a:latin typeface="Times New Roman" panose="02020603050405020304" pitchFamily="18" charset="0"/>
                          <a:cs typeface="Times New Roman" panose="02020603050405020304" pitchFamily="18" charset="0"/>
                        </a:rPr>
                        <a:t>Not written or documented</a:t>
                      </a: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800">
                          <a:effectLst/>
                          <a:latin typeface="Times New Roman" panose="02020603050405020304" pitchFamily="18" charset="0"/>
                          <a:cs typeface="Times New Roman" panose="02020603050405020304" pitchFamily="18" charset="0"/>
                        </a:rPr>
                        <a:t>Well- documented</a:t>
                      </a: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524741784"/>
                  </a:ext>
                </a:extLst>
              </a:tr>
              <a:tr h="319719">
                <a:tc>
                  <a:txBody>
                    <a:bodyPr/>
                    <a:lstStyle/>
                    <a:p>
                      <a:pPr algn="l" fontAlgn="t"/>
                      <a:r>
                        <a:rPr lang="en-US" sz="1800">
                          <a:effectLst/>
                          <a:latin typeface="Times New Roman" panose="02020603050405020304" pitchFamily="18" charset="0"/>
                          <a:cs typeface="Times New Roman" panose="02020603050405020304" pitchFamily="18" charset="0"/>
                        </a:rPr>
                        <a:t>Severity</a:t>
                      </a: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800" dirty="0">
                          <a:effectLst/>
                          <a:latin typeface="Times New Roman" panose="02020603050405020304" pitchFamily="18" charset="0"/>
                          <a:cs typeface="Times New Roman" panose="02020603050405020304" pitchFamily="18" charset="0"/>
                        </a:rPr>
                        <a:t>Not severe</a:t>
                      </a: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800">
                          <a:effectLst/>
                          <a:latin typeface="Times New Roman" panose="02020603050405020304" pitchFamily="18" charset="0"/>
                          <a:cs typeface="Times New Roman" panose="02020603050405020304" pitchFamily="18" charset="0"/>
                        </a:rPr>
                        <a:t>Severe</a:t>
                      </a: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23725260"/>
                  </a:ext>
                </a:extLst>
              </a:tr>
              <a:tr h="425743">
                <a:tc>
                  <a:txBody>
                    <a:bodyPr/>
                    <a:lstStyle/>
                    <a:p>
                      <a:pPr algn="l" fontAlgn="t"/>
                      <a:r>
                        <a:rPr lang="en-US" sz="1800" dirty="0">
                          <a:effectLst/>
                          <a:latin typeface="Times New Roman" panose="02020603050405020304" pitchFamily="18" charset="0"/>
                          <a:cs typeface="Times New Roman" panose="02020603050405020304" pitchFamily="18" charset="0"/>
                        </a:rPr>
                        <a:t>Control</a:t>
                      </a: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800" dirty="0">
                          <a:effectLst/>
                          <a:latin typeface="Times New Roman" panose="02020603050405020304" pitchFamily="18" charset="0"/>
                          <a:cs typeface="Times New Roman" panose="02020603050405020304" pitchFamily="18" charset="0"/>
                        </a:rPr>
                        <a:t>Social organizations and groups</a:t>
                      </a: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800">
                          <a:effectLst/>
                          <a:latin typeface="Times New Roman" panose="02020603050405020304" pitchFamily="18" charset="0"/>
                          <a:cs typeface="Times New Roman" panose="02020603050405020304" pitchFamily="18" charset="0"/>
                        </a:rPr>
                        <a:t>Police and judiciary</a:t>
                      </a: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676840722"/>
                  </a:ext>
                </a:extLst>
              </a:tr>
              <a:tr h="319719">
                <a:tc>
                  <a:txBody>
                    <a:bodyPr/>
                    <a:lstStyle/>
                    <a:p>
                      <a:pPr algn="l" fontAlgn="t"/>
                      <a:r>
                        <a:rPr lang="en-US" sz="1800">
                          <a:effectLst/>
                          <a:latin typeface="Times New Roman" panose="02020603050405020304" pitchFamily="18" charset="0"/>
                          <a:cs typeface="Times New Roman" panose="02020603050405020304" pitchFamily="18" charset="0"/>
                        </a:rPr>
                        <a:t>Results in</a:t>
                      </a: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3F3F3"/>
                    </a:solidFill>
                  </a:tcPr>
                </a:tc>
                <a:tc>
                  <a:txBody>
                    <a:bodyPr/>
                    <a:lstStyle/>
                    <a:p>
                      <a:pPr algn="l" fontAlgn="t"/>
                      <a:r>
                        <a:rPr lang="en-US" sz="1800" dirty="0">
                          <a:effectLst/>
                          <a:latin typeface="Times New Roman" panose="02020603050405020304" pitchFamily="18" charset="0"/>
                          <a:cs typeface="Times New Roman" panose="02020603050405020304" pitchFamily="18" charset="0"/>
                        </a:rPr>
                        <a:t>Negative social reactions</a:t>
                      </a: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3F3F3"/>
                    </a:solidFill>
                  </a:tcPr>
                </a:tc>
                <a:tc>
                  <a:txBody>
                    <a:bodyPr/>
                    <a:lstStyle/>
                    <a:p>
                      <a:pPr algn="l" fontAlgn="t"/>
                      <a:r>
                        <a:rPr lang="en-US" sz="1800">
                          <a:effectLst/>
                          <a:latin typeface="Times New Roman" panose="02020603050405020304" pitchFamily="18" charset="0"/>
                          <a:cs typeface="Times New Roman" panose="02020603050405020304" pitchFamily="18" charset="0"/>
                        </a:rPr>
                        <a:t>Punishment</a:t>
                      </a: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3F3F3"/>
                    </a:solidFill>
                  </a:tcPr>
                </a:tc>
                <a:extLst>
                  <a:ext uri="{0D108BD9-81ED-4DB2-BD59-A6C34878D82A}">
                    <a16:rowId xmlns:a16="http://schemas.microsoft.com/office/drawing/2014/main" val="4218086476"/>
                  </a:ext>
                </a:extLst>
              </a:tr>
              <a:tr h="1237949">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cs typeface="Times New Roman" panose="02020603050405020304" pitchFamily="18" charset="0"/>
                        </a:rPr>
                        <a:t>Change</a:t>
                      </a:r>
                    </a:p>
                    <a:p>
                      <a:pPr algn="l" fontAlgn="t"/>
                      <a:endParaRPr lang="en-US" sz="1800" dirty="0">
                        <a:effectLst/>
                        <a:latin typeface="Times New Roman" panose="02020603050405020304" pitchFamily="18" charset="0"/>
                        <a:cs typeface="Times New Roman" panose="02020603050405020304" pitchFamily="18" charset="0"/>
                      </a:endParaRP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cs typeface="Times New Roman" panose="02020603050405020304" pitchFamily="18" charset="0"/>
                        </a:rPr>
                        <a:t>Norms differ from one culture to another.</a:t>
                      </a:r>
                    </a:p>
                    <a:p>
                      <a:pPr algn="l" fontAlgn="t"/>
                      <a:endParaRPr lang="en-US" sz="1800" dirty="0">
                        <a:effectLst/>
                        <a:latin typeface="Times New Roman" panose="02020603050405020304" pitchFamily="18" charset="0"/>
                        <a:cs typeface="Times New Roman" panose="02020603050405020304" pitchFamily="18" charset="0"/>
                      </a:endParaRP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cs typeface="Times New Roman" panose="02020603050405020304" pitchFamily="18" charset="0"/>
                        </a:rPr>
                        <a:t>Law is the same in different societies. However, the penalty differs with respect to crime.</a:t>
                      </a:r>
                    </a:p>
                    <a:p>
                      <a:pPr algn="l" fontAlgn="t"/>
                      <a:endParaRPr lang="en-US" sz="1800" dirty="0">
                        <a:effectLst/>
                        <a:latin typeface="Times New Roman" panose="02020603050405020304" pitchFamily="18" charset="0"/>
                        <a:cs typeface="Times New Roman" panose="02020603050405020304" pitchFamily="18" charset="0"/>
                      </a:endParaRPr>
                    </a:p>
                  </a:txBody>
                  <a:tcPr marL="28817" marR="28817" marT="28817" marB="28817">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340671931"/>
                  </a:ext>
                </a:extLst>
              </a:tr>
              <a:tr h="1003648">
                <a:tc>
                  <a:txBody>
                    <a:bodyPr/>
                    <a:lstStyle/>
                    <a:p>
                      <a:pPr algn="l" fontAlgn="t"/>
                      <a:r>
                        <a:rPr lang="en-US" sz="1800" dirty="0">
                          <a:effectLst/>
                          <a:latin typeface="Times New Roman" panose="02020603050405020304" pitchFamily="18" charset="0"/>
                          <a:cs typeface="Times New Roman" panose="02020603050405020304" pitchFamily="18" charset="0"/>
                        </a:rPr>
                        <a:t>Example</a:t>
                      </a:r>
                    </a:p>
                  </a:txBody>
                  <a:tcPr marL="28817" marR="28817" marT="28817" marB="28817">
                    <a:lnL>
                      <a:noFill/>
                    </a:lnL>
                    <a:lnR>
                      <a:noFill/>
                    </a:lnR>
                    <a:lnT w="7620" cap="flat" cmpd="sng" algn="ctr">
                      <a:solidFill>
                        <a:srgbClr val="DDDDDD"/>
                      </a:solidFill>
                      <a:prstDash val="solid"/>
                      <a:round/>
                      <a:headEnd type="none" w="med" len="med"/>
                      <a:tailEnd type="none" w="med" len="med"/>
                    </a:lnT>
                    <a:lnB>
                      <a:noFill/>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cs typeface="Times New Roman" panose="02020603050405020304" pitchFamily="18" charset="0"/>
                        </a:rPr>
                        <a:t>Misbehave with parents.</a:t>
                      </a:r>
                    </a:p>
                    <a:p>
                      <a:pPr algn="l" fontAlgn="t"/>
                      <a:endParaRPr lang="en-US" sz="1800" dirty="0">
                        <a:effectLst/>
                        <a:latin typeface="Times New Roman" panose="02020603050405020304" pitchFamily="18" charset="0"/>
                        <a:cs typeface="Times New Roman" panose="02020603050405020304" pitchFamily="18" charset="0"/>
                      </a:endParaRPr>
                    </a:p>
                  </a:txBody>
                  <a:tcPr marL="28817" marR="28817" marT="28817" marB="28817">
                    <a:lnL>
                      <a:noFill/>
                    </a:lnL>
                    <a:lnR>
                      <a:noFill/>
                    </a:lnR>
                    <a:lnT w="7620" cap="flat" cmpd="sng" algn="ctr">
                      <a:solidFill>
                        <a:srgbClr val="DDDDDD"/>
                      </a:solidFill>
                      <a:prstDash val="solid"/>
                      <a:round/>
                      <a:headEnd type="none" w="med" len="med"/>
                      <a:tailEnd type="none" w="med" len="med"/>
                    </a:lnT>
                    <a:lnB>
                      <a:noFill/>
                    </a:lnB>
                    <a:solidFill>
                      <a:srgbClr val="FFFFFF"/>
                    </a:solidFill>
                  </a:tcPr>
                </a:tc>
                <a:tc>
                  <a:txBody>
                    <a:bodyPr/>
                    <a:lstStyle/>
                    <a:p>
                      <a:pPr algn="l" fontAlgn="t"/>
                      <a:r>
                        <a:rPr lang="en-US" sz="1800" dirty="0">
                          <a:effectLst/>
                          <a:latin typeface="Times New Roman" panose="02020603050405020304" pitchFamily="18" charset="0"/>
                          <a:cs typeface="Times New Roman" panose="02020603050405020304" pitchFamily="18" charset="0"/>
                        </a:rPr>
                        <a:t>Murder, rape etc. </a:t>
                      </a:r>
                    </a:p>
                  </a:txBody>
                  <a:tcPr marL="28817" marR="28817" marT="28817" marB="28817">
                    <a:lnL>
                      <a:noFill/>
                    </a:lnL>
                    <a:lnR>
                      <a:noFill/>
                    </a:lnR>
                    <a:lnT w="7620" cap="flat" cmpd="sng" algn="ctr">
                      <a:solidFill>
                        <a:srgbClr val="DDDDDD"/>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3163248866"/>
                  </a:ext>
                </a:extLst>
              </a:tr>
            </a:tbl>
          </a:graphicData>
        </a:graphic>
      </p:graphicFrame>
      <p:sp>
        <p:nvSpPr>
          <p:cNvPr id="5" name="Rectangle 1">
            <a:extLst>
              <a:ext uri="{FF2B5EF4-FFF2-40B4-BE49-F238E27FC236}">
                <a16:creationId xmlns:a16="http://schemas.microsoft.com/office/drawing/2014/main" id="{7F292CB1-9DED-4C2A-9D24-444E973CFF98}"/>
              </a:ext>
            </a:extLst>
          </p:cNvPr>
          <p:cNvSpPr>
            <a:spLocks noChangeArrowheads="1"/>
          </p:cNvSpPr>
          <p:nvPr/>
        </p:nvSpPr>
        <p:spPr bwMode="auto">
          <a:xfrm>
            <a:off x="-10233153" y="-323166"/>
            <a:ext cx="3061111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5859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4266F-42B4-4ADE-B8C4-61B3DEEE7507}"/>
              </a:ext>
            </a:extLst>
          </p:cNvPr>
          <p:cNvSpPr>
            <a:spLocks noGrp="1"/>
          </p:cNvSpPr>
          <p:nvPr>
            <p:ph type="title"/>
          </p:nvPr>
        </p:nvSpPr>
        <p:spPr>
          <a:xfrm>
            <a:off x="838200" y="365125"/>
            <a:ext cx="10515600" cy="771217"/>
          </a:xfrm>
        </p:spPr>
        <p:txBody>
          <a:bodyPr>
            <a:normAutofit/>
          </a:bodyPr>
          <a:lstStyle/>
          <a:p>
            <a:pPr algn="ctr"/>
            <a:r>
              <a:rPr lang="en-US" b="1" dirty="0">
                <a:latin typeface="Times New Roman" panose="02020603050405020304" pitchFamily="18" charset="0"/>
                <a:cs typeface="Times New Roman" panose="02020603050405020304" pitchFamily="18" charset="0"/>
              </a:rPr>
              <a:t>Causes of juvenile delinquency</a:t>
            </a:r>
          </a:p>
        </p:txBody>
      </p:sp>
      <p:sp>
        <p:nvSpPr>
          <p:cNvPr id="3" name="Content Placeholder 2">
            <a:extLst>
              <a:ext uri="{FF2B5EF4-FFF2-40B4-BE49-F238E27FC236}">
                <a16:creationId xmlns:a16="http://schemas.microsoft.com/office/drawing/2014/main" id="{4C4C3049-BA37-4408-8F98-01F3595C25E6}"/>
              </a:ext>
            </a:extLst>
          </p:cNvPr>
          <p:cNvSpPr>
            <a:spLocks noGrp="1"/>
          </p:cNvSpPr>
          <p:nvPr>
            <p:ph idx="1"/>
          </p:nvPr>
        </p:nvSpPr>
        <p:spPr>
          <a:xfrm>
            <a:off x="838200" y="1136342"/>
            <a:ext cx="10515600" cy="5575175"/>
          </a:xfrm>
        </p:spPr>
        <p:txBody>
          <a:bodyPr/>
          <a:lstStyle/>
          <a:p>
            <a:pPr algn="just"/>
            <a:r>
              <a:rPr lang="en-US" b="0" i="0" dirty="0">
                <a:solidFill>
                  <a:srgbClr val="333333"/>
                </a:solidFill>
                <a:effectLst/>
                <a:latin typeface="Times New Roman" panose="02020603050405020304" pitchFamily="18" charset="0"/>
                <a:cs typeface="Times New Roman" panose="02020603050405020304" pitchFamily="18" charset="0"/>
              </a:rPr>
              <a:t>Juvenile delinquency refers to the antisocial or criminal activity of a child (below 16 years of age for boys and 18 years for girls) which violates the law. </a:t>
            </a:r>
          </a:p>
          <a:p>
            <a:pPr algn="just"/>
            <a:r>
              <a:rPr lang="en-US" dirty="0">
                <a:latin typeface="Times New Roman" panose="02020603050405020304" pitchFamily="18" charset="0"/>
                <a:cs typeface="Times New Roman" panose="02020603050405020304" pitchFamily="18" charset="0"/>
              </a:rPr>
              <a:t>It has different causes. There are-</a:t>
            </a:r>
          </a:p>
          <a:p>
            <a:pPr marL="514350" indent="-514350" algn="just">
              <a:buAutoNum type="arabicPeriod"/>
            </a:pPr>
            <a:r>
              <a:rPr lang="en-US" dirty="0">
                <a:latin typeface="Times New Roman" panose="02020603050405020304" pitchFamily="18" charset="0"/>
                <a:cs typeface="Times New Roman" panose="02020603050405020304" pitchFamily="18" charset="0"/>
              </a:rPr>
              <a:t>Biological factor</a:t>
            </a:r>
          </a:p>
          <a:p>
            <a:pPr marL="571500" indent="-571500" algn="just">
              <a:buAutoNum type="romanLcPeriod"/>
            </a:pPr>
            <a:r>
              <a:rPr lang="en-US" dirty="0">
                <a:latin typeface="Times New Roman" panose="02020603050405020304" pitchFamily="18" charset="0"/>
                <a:cs typeface="Times New Roman" panose="02020603050405020304" pitchFamily="18" charset="0"/>
              </a:rPr>
              <a:t>Physically disable</a:t>
            </a:r>
          </a:p>
          <a:p>
            <a:pPr marL="571500" indent="-571500" algn="just">
              <a:buAutoNum type="romanLcPeriod"/>
            </a:pPr>
            <a:r>
              <a:rPr lang="en-US" dirty="0">
                <a:latin typeface="Times New Roman" panose="02020603050405020304" pitchFamily="18" charset="0"/>
                <a:cs typeface="Times New Roman" panose="02020603050405020304" pitchFamily="18" charset="0"/>
              </a:rPr>
              <a:t>Heredity</a:t>
            </a:r>
          </a:p>
          <a:p>
            <a:pPr marL="0" indent="0" algn="just">
              <a:buNone/>
            </a:pPr>
            <a:r>
              <a:rPr lang="en-US" dirty="0">
                <a:latin typeface="Times New Roman" panose="02020603050405020304" pitchFamily="18" charset="0"/>
                <a:cs typeface="Times New Roman" panose="02020603050405020304" pitchFamily="18" charset="0"/>
              </a:rPr>
              <a:t>2. Mental factors</a:t>
            </a:r>
          </a:p>
          <a:p>
            <a:pPr marL="0" indent="0" algn="just">
              <a:buNone/>
            </a:pPr>
            <a:r>
              <a:rPr lang="en-US" dirty="0">
                <a:latin typeface="Times New Roman" panose="02020603050405020304" pitchFamily="18" charset="0"/>
                <a:cs typeface="Times New Roman" panose="02020603050405020304" pitchFamily="18" charset="0"/>
              </a:rPr>
              <a:t>3. Economic reasons-</a:t>
            </a:r>
          </a:p>
          <a:p>
            <a:pPr marL="571500" indent="-571500" algn="just">
              <a:buAutoNum type="romanLcPeriod"/>
            </a:pPr>
            <a:r>
              <a:rPr lang="en-US" dirty="0">
                <a:latin typeface="Times New Roman" panose="02020603050405020304" pitchFamily="18" charset="0"/>
                <a:cs typeface="Times New Roman" panose="02020603050405020304" pitchFamily="18" charset="0"/>
              </a:rPr>
              <a:t>Poverty</a:t>
            </a:r>
          </a:p>
          <a:p>
            <a:pPr marL="571500" indent="-571500" algn="just">
              <a:buAutoNum type="romanLcPeriod"/>
            </a:pPr>
            <a:r>
              <a:rPr lang="en-US" dirty="0">
                <a:latin typeface="Times New Roman" panose="02020603050405020304" pitchFamily="18" charset="0"/>
                <a:cs typeface="Times New Roman" panose="02020603050405020304" pitchFamily="18" charset="0"/>
              </a:rPr>
              <a:t>Socio-economic discrimination</a:t>
            </a:r>
          </a:p>
          <a:p>
            <a:pPr marL="0" indent="0" algn="just">
              <a:buNone/>
            </a:pP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45672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413E9-02AD-4627-9202-6BF9EC3CE2E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Causes of juvenile delinquency (continue)</a:t>
            </a:r>
            <a:endParaRPr lang="en-US" dirty="0"/>
          </a:p>
        </p:txBody>
      </p:sp>
      <p:sp>
        <p:nvSpPr>
          <p:cNvPr id="3" name="Content Placeholder 2">
            <a:extLst>
              <a:ext uri="{FF2B5EF4-FFF2-40B4-BE49-F238E27FC236}">
                <a16:creationId xmlns:a16="http://schemas.microsoft.com/office/drawing/2014/main" id="{2948F234-8829-4D5D-95D3-51B59016AF68}"/>
              </a:ext>
            </a:extLst>
          </p:cNvPr>
          <p:cNvSpPr>
            <a:spLocks noGrp="1"/>
          </p:cNvSpPr>
          <p:nvPr>
            <p:ph idx="1"/>
          </p:nvPr>
        </p:nvSpPr>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4. Social causes-</a:t>
            </a:r>
          </a:p>
          <a:p>
            <a:pPr marL="0" indent="0">
              <a:buNone/>
            </a:pPr>
            <a:r>
              <a:rPr lang="en-US" dirty="0">
                <a:latin typeface="Times New Roman" panose="02020603050405020304" pitchFamily="18" charset="0"/>
                <a:cs typeface="Times New Roman" panose="02020603050405020304" pitchFamily="18" charset="0"/>
              </a:rPr>
              <a:t>I. Lack</a:t>
            </a:r>
            <a:r>
              <a:rPr lang="en-US" b="0" i="0" dirty="0">
                <a:solidFill>
                  <a:srgbClr val="3A3A3A"/>
                </a:solidFill>
                <a:effectLst/>
                <a:latin typeface="Times New Roman" panose="02020603050405020304" pitchFamily="18" charset="0"/>
                <a:cs typeface="Times New Roman" panose="02020603050405020304" pitchFamily="18" charset="0"/>
              </a:rPr>
              <a:t> of proper family control</a:t>
            </a:r>
          </a:p>
          <a:p>
            <a:pPr marL="0" indent="0">
              <a:buNone/>
            </a:pPr>
            <a:r>
              <a:rPr lang="en-US" dirty="0">
                <a:solidFill>
                  <a:srgbClr val="3A3A3A"/>
                </a:solidFill>
                <a:latin typeface="Times New Roman" panose="02020603050405020304" pitchFamily="18" charset="0"/>
                <a:cs typeface="Times New Roman" panose="02020603050405020304" pitchFamily="18" charset="0"/>
              </a:rPr>
              <a:t>ii. </a:t>
            </a:r>
            <a:r>
              <a:rPr lang="en-US" b="0" i="0" dirty="0">
                <a:solidFill>
                  <a:srgbClr val="3A3A3A"/>
                </a:solidFill>
                <a:effectLst/>
                <a:latin typeface="Times New Roman" panose="02020603050405020304" pitchFamily="18" charset="0"/>
                <a:cs typeface="Times New Roman" panose="02020603050405020304" pitchFamily="18" charset="0"/>
              </a:rPr>
              <a:t>conflict in family</a:t>
            </a:r>
          </a:p>
          <a:p>
            <a:pPr marL="0" indent="0">
              <a:buNone/>
            </a:pPr>
            <a:r>
              <a:rPr lang="en-US" dirty="0">
                <a:solidFill>
                  <a:srgbClr val="3A3A3A"/>
                </a:solidFill>
                <a:latin typeface="Times New Roman" panose="02020603050405020304" pitchFamily="18" charset="0"/>
                <a:cs typeface="Times New Roman" panose="02020603050405020304" pitchFamily="18" charset="0"/>
              </a:rPr>
              <a:t>iii. The </a:t>
            </a:r>
            <a:r>
              <a:rPr lang="en-US" b="0" i="0" dirty="0">
                <a:solidFill>
                  <a:srgbClr val="3A3A3A"/>
                </a:solidFill>
                <a:effectLst/>
                <a:latin typeface="Times New Roman" panose="02020603050405020304" pitchFamily="18" charset="0"/>
                <a:cs typeface="Times New Roman" panose="02020603050405020304" pitchFamily="18" charset="0"/>
              </a:rPr>
              <a:t>situation of residential area</a:t>
            </a:r>
          </a:p>
          <a:p>
            <a:pPr marL="0" indent="0">
              <a:buNone/>
            </a:pPr>
            <a:r>
              <a:rPr lang="en-US" dirty="0">
                <a:solidFill>
                  <a:srgbClr val="3A3A3A"/>
                </a:solidFill>
                <a:latin typeface="Times New Roman" panose="02020603050405020304" pitchFamily="18" charset="0"/>
                <a:cs typeface="Times New Roman" panose="02020603050405020304" pitchFamily="18" charset="0"/>
              </a:rPr>
              <a:t>iv. </a:t>
            </a:r>
            <a:r>
              <a:rPr lang="en-US" b="0" i="0" dirty="0">
                <a:solidFill>
                  <a:srgbClr val="3A3A3A"/>
                </a:solidFill>
                <a:effectLst/>
                <a:latin typeface="Times New Roman" panose="02020603050405020304" pitchFamily="18" charset="0"/>
                <a:cs typeface="Times New Roman" panose="02020603050405020304" pitchFamily="18" charset="0"/>
              </a:rPr>
              <a:t>impact of movies </a:t>
            </a:r>
          </a:p>
          <a:p>
            <a:pPr marL="0" indent="0">
              <a:buNone/>
            </a:pPr>
            <a:r>
              <a:rPr lang="en-US" dirty="0">
                <a:solidFill>
                  <a:srgbClr val="3A3A3A"/>
                </a:solidFill>
                <a:latin typeface="Times New Roman" panose="02020603050405020304" pitchFamily="18" charset="0"/>
                <a:cs typeface="Times New Roman" panose="02020603050405020304" pitchFamily="18" charset="0"/>
              </a:rPr>
              <a:t>v. Social change</a:t>
            </a:r>
          </a:p>
          <a:p>
            <a:pPr marL="0" indent="0">
              <a:buNone/>
            </a:pPr>
            <a:r>
              <a:rPr lang="en-US" b="0" i="0" dirty="0">
                <a:solidFill>
                  <a:srgbClr val="3A3A3A"/>
                </a:solidFill>
                <a:effectLst/>
                <a:latin typeface="Times New Roman" panose="02020603050405020304" pitchFamily="18" charset="0"/>
                <a:cs typeface="Times New Roman" panose="02020603050405020304" pitchFamily="18" charset="0"/>
              </a:rPr>
              <a:t>vi. Easy access to drugs and arms</a:t>
            </a:r>
          </a:p>
          <a:p>
            <a:pPr marL="0" indent="0">
              <a:buNone/>
            </a:pPr>
            <a:r>
              <a:rPr lang="en-US" dirty="0">
                <a:solidFill>
                  <a:srgbClr val="3A3A3A"/>
                </a:solidFill>
                <a:latin typeface="Times New Roman" panose="02020603050405020304" pitchFamily="18" charset="0"/>
                <a:cs typeface="Times New Roman" panose="02020603050405020304" pitchFamily="18" charset="0"/>
              </a:rPr>
              <a:t>vii. Lack of proper socialization</a:t>
            </a:r>
          </a:p>
          <a:p>
            <a:pPr marL="0" indent="0">
              <a:buNone/>
            </a:pPr>
            <a:r>
              <a:rPr lang="en-US" b="0" i="0" dirty="0">
                <a:solidFill>
                  <a:srgbClr val="3A3A3A"/>
                </a:solidFill>
                <a:effectLst/>
                <a:latin typeface="Times New Roman" panose="02020603050405020304" pitchFamily="18" charset="0"/>
                <a:cs typeface="Times New Roman" panose="02020603050405020304" pitchFamily="18" charset="0"/>
              </a:rPr>
              <a:t>5. Political reasons</a:t>
            </a:r>
          </a:p>
          <a:p>
            <a:pPr marL="0" indent="0">
              <a:buNone/>
            </a:pPr>
            <a:endParaRPr lang="en-US" dirty="0"/>
          </a:p>
        </p:txBody>
      </p:sp>
    </p:spTree>
    <p:extLst>
      <p:ext uri="{BB962C8B-B14F-4D97-AF65-F5344CB8AC3E}">
        <p14:creationId xmlns:p14="http://schemas.microsoft.com/office/powerpoint/2010/main" val="3479507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3BFA7-00AE-48E8-8F10-77C41E9EBEC9}"/>
              </a:ext>
            </a:extLst>
          </p:cNvPr>
          <p:cNvSpPr>
            <a:spLocks noGrp="1"/>
          </p:cNvSpPr>
          <p:nvPr>
            <p:ph type="title"/>
          </p:nvPr>
        </p:nvSpPr>
        <p:spPr>
          <a:xfrm>
            <a:off x="838200" y="365126"/>
            <a:ext cx="10515600" cy="993158"/>
          </a:xfrm>
        </p:spPr>
        <p:txBody>
          <a:bodyPr>
            <a:normAutofit fontScale="90000"/>
          </a:bodyPr>
          <a:lstStyle/>
          <a:p>
            <a:pPr algn="ctr" fontAlgn="base"/>
            <a:r>
              <a:rPr lang="en-US" b="1" i="0" dirty="0">
                <a:solidFill>
                  <a:srgbClr val="077FAB"/>
                </a:solidFill>
                <a:effectLst/>
                <a:latin typeface="proxima-nova"/>
              </a:rPr>
              <a:t>Sociological Theories of Deviance</a:t>
            </a:r>
            <a:br>
              <a:rPr lang="en-US" b="1" i="0" dirty="0">
                <a:solidFill>
                  <a:srgbClr val="077FAB"/>
                </a:solidFill>
                <a:effectLst/>
                <a:latin typeface="proxima-nova"/>
              </a:rPr>
            </a:br>
            <a:endParaRPr lang="en-US" dirty="0"/>
          </a:p>
        </p:txBody>
      </p:sp>
      <p:sp>
        <p:nvSpPr>
          <p:cNvPr id="3" name="Content Placeholder 2">
            <a:extLst>
              <a:ext uri="{FF2B5EF4-FFF2-40B4-BE49-F238E27FC236}">
                <a16:creationId xmlns:a16="http://schemas.microsoft.com/office/drawing/2014/main" id="{F96E9C88-D620-4BE3-A88D-6D7F44DF13C4}"/>
              </a:ext>
            </a:extLst>
          </p:cNvPr>
          <p:cNvSpPr>
            <a:spLocks noGrp="1"/>
          </p:cNvSpPr>
          <p:nvPr>
            <p:ph idx="1"/>
          </p:nvPr>
        </p:nvSpPr>
        <p:spPr/>
        <p:txBody>
          <a:bodyPr/>
          <a:lstStyle/>
          <a:p>
            <a:pPr marL="0" indent="0" algn="ctr" fontAlgn="base">
              <a:buNone/>
            </a:pPr>
            <a:r>
              <a:rPr lang="en-US" b="1" i="0" dirty="0">
                <a:solidFill>
                  <a:srgbClr val="6C64AD"/>
                </a:solidFill>
                <a:effectLst/>
                <a:latin typeface="proxima-nova"/>
              </a:rPr>
              <a:t>Social Strain Theory of deviance</a:t>
            </a:r>
          </a:p>
          <a:p>
            <a:pPr fontAlgn="base"/>
            <a:r>
              <a:rPr lang="en-US" b="1" i="0" dirty="0">
                <a:solidFill>
                  <a:srgbClr val="6C64AD"/>
                </a:solidFill>
                <a:effectLst/>
                <a:latin typeface="proxima-nova"/>
              </a:rPr>
              <a:t>Social Strain Theory was </a:t>
            </a:r>
            <a:r>
              <a:rPr lang="en-US" b="0" i="0" dirty="0">
                <a:solidFill>
                  <a:srgbClr val="373D3F"/>
                </a:solidFill>
                <a:effectLst/>
                <a:latin typeface="proxima-nova"/>
              </a:rPr>
              <a:t>developed by American sociologist Robert K. Merton. Merton proposed a typology of deviant behavior, a classification scheme designed to facilitate understanding. Merton typology of deviance was based on two criteria: (1) a person’s motivations or adherence to cultural goals; (2) a person’s belief in how to attain her goals. According to Merton, there are five types of deviance based upon these criteria: conformity, innovation, ritualism, retreatism and rebellion. </a:t>
            </a:r>
          </a:p>
          <a:p>
            <a:endParaRPr lang="en-US" dirty="0"/>
          </a:p>
        </p:txBody>
      </p:sp>
    </p:spTree>
    <p:extLst>
      <p:ext uri="{BB962C8B-B14F-4D97-AF65-F5344CB8AC3E}">
        <p14:creationId xmlns:p14="http://schemas.microsoft.com/office/powerpoint/2010/main" val="1154542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90A6D-D9DB-4AE5-BB63-3455D84CC8F8}"/>
              </a:ext>
            </a:extLst>
          </p:cNvPr>
          <p:cNvSpPr>
            <a:spLocks noGrp="1"/>
          </p:cNvSpPr>
          <p:nvPr>
            <p:ph type="title"/>
          </p:nvPr>
        </p:nvSpPr>
        <p:spPr>
          <a:xfrm>
            <a:off x="838200" y="365125"/>
            <a:ext cx="10515600" cy="1191033"/>
          </a:xfrm>
        </p:spPr>
        <p:txBody>
          <a:bodyPr/>
          <a:lstStyle/>
          <a:p>
            <a:r>
              <a:rPr kumimoji="0" lang="en-US" sz="4000" b="1" i="0" u="none" strike="noStrike" kern="1200" cap="none" spc="0" normalizeH="0" baseline="0" noProof="0" dirty="0">
                <a:ln>
                  <a:noFill/>
                </a:ln>
                <a:solidFill>
                  <a:srgbClr val="077FAB"/>
                </a:solidFill>
                <a:effectLst/>
                <a:uLnTx/>
                <a:uFillTx/>
                <a:latin typeface="proxima-nova"/>
                <a:ea typeface="+mj-ea"/>
                <a:cs typeface="+mj-cs"/>
              </a:rPr>
              <a:t>Sociological Theories of Deviance (continue)</a:t>
            </a:r>
            <a:endParaRPr lang="en-US" dirty="0"/>
          </a:p>
        </p:txBody>
      </p:sp>
      <p:sp>
        <p:nvSpPr>
          <p:cNvPr id="3" name="Content Placeholder 2">
            <a:extLst>
              <a:ext uri="{FF2B5EF4-FFF2-40B4-BE49-F238E27FC236}">
                <a16:creationId xmlns:a16="http://schemas.microsoft.com/office/drawing/2014/main" id="{60515F79-0DB4-45D6-928B-DB031EF2F175}"/>
              </a:ext>
            </a:extLst>
          </p:cNvPr>
          <p:cNvSpPr>
            <a:spLocks noGrp="1"/>
          </p:cNvSpPr>
          <p:nvPr>
            <p:ph idx="1"/>
          </p:nvPr>
        </p:nvSpPr>
        <p:spPr/>
        <p:txBody>
          <a:bodyPr/>
          <a:lstStyle/>
          <a:p>
            <a:r>
              <a:rPr lang="en-US" dirty="0"/>
              <a:t>Merton’s classification of deviance</a:t>
            </a:r>
          </a:p>
          <a:p>
            <a:pPr marL="0" indent="0">
              <a:buNone/>
            </a:pPr>
            <a:endParaRPr lang="en-US" dirty="0"/>
          </a:p>
        </p:txBody>
      </p:sp>
      <p:graphicFrame>
        <p:nvGraphicFramePr>
          <p:cNvPr id="4" name="Table 4">
            <a:extLst>
              <a:ext uri="{FF2B5EF4-FFF2-40B4-BE49-F238E27FC236}">
                <a16:creationId xmlns:a16="http://schemas.microsoft.com/office/drawing/2014/main" id="{050B7885-AB06-4A35-8B85-50649523D323}"/>
              </a:ext>
            </a:extLst>
          </p:cNvPr>
          <p:cNvGraphicFramePr>
            <a:graphicFrameLocks noGrp="1"/>
          </p:cNvGraphicFramePr>
          <p:nvPr>
            <p:extLst>
              <p:ext uri="{D42A27DB-BD31-4B8C-83A1-F6EECF244321}">
                <p14:modId xmlns:p14="http://schemas.microsoft.com/office/powerpoint/2010/main" val="41403225"/>
              </p:ext>
            </p:extLst>
          </p:nvPr>
        </p:nvGraphicFramePr>
        <p:xfrm>
          <a:off x="2032000" y="2396971"/>
          <a:ext cx="8127999" cy="3510525"/>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971926848"/>
                    </a:ext>
                  </a:extLst>
                </a:gridCol>
                <a:gridCol w="2709333">
                  <a:extLst>
                    <a:ext uri="{9D8B030D-6E8A-4147-A177-3AD203B41FA5}">
                      <a16:colId xmlns:a16="http://schemas.microsoft.com/office/drawing/2014/main" val="2685423012"/>
                    </a:ext>
                  </a:extLst>
                </a:gridCol>
                <a:gridCol w="2709333">
                  <a:extLst>
                    <a:ext uri="{9D8B030D-6E8A-4147-A177-3AD203B41FA5}">
                      <a16:colId xmlns:a16="http://schemas.microsoft.com/office/drawing/2014/main" val="4120115662"/>
                    </a:ext>
                  </a:extLst>
                </a:gridCol>
              </a:tblGrid>
              <a:tr h="574089">
                <a:tc>
                  <a:txBody>
                    <a:bodyPr/>
                    <a:lstStyle/>
                    <a:p>
                      <a:r>
                        <a:rPr lang="en-US" dirty="0"/>
                        <a:t>Modes of adaptation</a:t>
                      </a:r>
                    </a:p>
                  </a:txBody>
                  <a:tcPr/>
                </a:tc>
                <a:tc>
                  <a:txBody>
                    <a:bodyPr/>
                    <a:lstStyle/>
                    <a:p>
                      <a:r>
                        <a:rPr lang="en-US" dirty="0"/>
                        <a:t>Cultural goals</a:t>
                      </a:r>
                    </a:p>
                  </a:txBody>
                  <a:tcPr/>
                </a:tc>
                <a:tc>
                  <a:txBody>
                    <a:bodyPr/>
                    <a:lstStyle/>
                    <a:p>
                      <a:r>
                        <a:rPr lang="en-US" dirty="0"/>
                        <a:t>Institutional means</a:t>
                      </a:r>
                    </a:p>
                  </a:txBody>
                  <a:tcPr/>
                </a:tc>
                <a:extLst>
                  <a:ext uri="{0D108BD9-81ED-4DB2-BD59-A6C34878D82A}">
                    <a16:rowId xmlns:a16="http://schemas.microsoft.com/office/drawing/2014/main" val="3721857560"/>
                  </a:ext>
                </a:extLst>
              </a:tr>
              <a:tr h="574089">
                <a:tc>
                  <a:txBody>
                    <a:bodyPr/>
                    <a:lstStyle/>
                    <a:p>
                      <a:r>
                        <a:rPr lang="en-US" dirty="0"/>
                        <a:t>Conformity</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4004315725"/>
                  </a:ext>
                </a:extLst>
              </a:tr>
              <a:tr h="574089">
                <a:tc>
                  <a:txBody>
                    <a:bodyPr/>
                    <a:lstStyle/>
                    <a:p>
                      <a:r>
                        <a:rPr lang="en-US" dirty="0"/>
                        <a:t>Innovation</a:t>
                      </a:r>
                    </a:p>
                  </a:txBody>
                  <a:tcPr/>
                </a:tc>
                <a:tc>
                  <a:txBody>
                    <a:bodyPr/>
                    <a:lstStyle/>
                    <a:p>
                      <a:r>
                        <a:rPr lang="en-US" dirty="0"/>
                        <a:t>+</a:t>
                      </a:r>
                    </a:p>
                  </a:txBody>
                  <a:tcPr/>
                </a:tc>
                <a:tc>
                  <a:txBody>
                    <a:bodyPr/>
                    <a:lstStyle/>
                    <a:p>
                      <a:r>
                        <a:rPr lang="en-US" dirty="0"/>
                        <a:t>_</a:t>
                      </a:r>
                    </a:p>
                  </a:txBody>
                  <a:tcPr/>
                </a:tc>
                <a:extLst>
                  <a:ext uri="{0D108BD9-81ED-4DB2-BD59-A6C34878D82A}">
                    <a16:rowId xmlns:a16="http://schemas.microsoft.com/office/drawing/2014/main" val="1198357910"/>
                  </a:ext>
                </a:extLst>
              </a:tr>
              <a:tr h="574089">
                <a:tc>
                  <a:txBody>
                    <a:bodyPr/>
                    <a:lstStyle/>
                    <a:p>
                      <a:r>
                        <a:rPr lang="en-US" dirty="0"/>
                        <a:t>Ritualism</a:t>
                      </a:r>
                    </a:p>
                  </a:txBody>
                  <a:tcPr/>
                </a:tc>
                <a:tc>
                  <a:txBody>
                    <a:bodyPr/>
                    <a:lstStyle/>
                    <a:p>
                      <a:r>
                        <a:rPr lang="en-US" dirty="0"/>
                        <a:t>_</a:t>
                      </a:r>
                    </a:p>
                  </a:txBody>
                  <a:tcPr/>
                </a:tc>
                <a:tc>
                  <a:txBody>
                    <a:bodyPr/>
                    <a:lstStyle/>
                    <a:p>
                      <a:r>
                        <a:rPr lang="en-US" dirty="0"/>
                        <a:t>+</a:t>
                      </a:r>
                    </a:p>
                  </a:txBody>
                  <a:tcPr/>
                </a:tc>
                <a:extLst>
                  <a:ext uri="{0D108BD9-81ED-4DB2-BD59-A6C34878D82A}">
                    <a16:rowId xmlns:a16="http://schemas.microsoft.com/office/drawing/2014/main" val="2471382919"/>
                  </a:ext>
                </a:extLst>
              </a:tr>
              <a:tr h="574089">
                <a:tc>
                  <a:txBody>
                    <a:bodyPr/>
                    <a:lstStyle/>
                    <a:p>
                      <a:r>
                        <a:rPr lang="en-US" dirty="0"/>
                        <a:t>Retreatism</a:t>
                      </a:r>
                    </a:p>
                  </a:txBody>
                  <a:tcPr/>
                </a:tc>
                <a:tc>
                  <a:txBody>
                    <a:bodyPr/>
                    <a:lstStyle/>
                    <a:p>
                      <a:r>
                        <a:rPr lang="en-US" dirty="0"/>
                        <a:t>_</a:t>
                      </a:r>
                    </a:p>
                  </a:txBody>
                  <a:tcPr/>
                </a:tc>
                <a:tc>
                  <a:txBody>
                    <a:bodyPr/>
                    <a:lstStyle/>
                    <a:p>
                      <a:r>
                        <a:rPr lang="en-US" dirty="0"/>
                        <a:t>_</a:t>
                      </a:r>
                    </a:p>
                  </a:txBody>
                  <a:tcPr/>
                </a:tc>
                <a:extLst>
                  <a:ext uri="{0D108BD9-81ED-4DB2-BD59-A6C34878D82A}">
                    <a16:rowId xmlns:a16="http://schemas.microsoft.com/office/drawing/2014/main" val="135432176"/>
                  </a:ext>
                </a:extLst>
              </a:tr>
              <a:tr h="574089">
                <a:tc>
                  <a:txBody>
                    <a:bodyPr/>
                    <a:lstStyle/>
                    <a:p>
                      <a:r>
                        <a:rPr lang="en-US" dirty="0"/>
                        <a:t>Rebellion</a:t>
                      </a:r>
                    </a:p>
                  </a:txBody>
                  <a:tcPr/>
                </a:tc>
                <a:tc>
                  <a:txBody>
                    <a:bodyPr/>
                    <a:lstStyle/>
                    <a:p>
                      <a:r>
                        <a:rPr lang="en-US" dirty="0"/>
                        <a:t>+</a:t>
                      </a:r>
                    </a:p>
                    <a:p>
                      <a:r>
                        <a:rPr lang="en-US" dirty="0"/>
                        <a:t>_</a:t>
                      </a:r>
                    </a:p>
                  </a:txBody>
                  <a:tcPr/>
                </a:tc>
                <a:tc>
                  <a:txBody>
                    <a:bodyPr/>
                    <a:lstStyle/>
                    <a:p>
                      <a:r>
                        <a:rPr lang="en-US" dirty="0"/>
                        <a:t>+</a:t>
                      </a:r>
                    </a:p>
                    <a:p>
                      <a:r>
                        <a:rPr lang="en-US" dirty="0"/>
                        <a:t>_</a:t>
                      </a:r>
                    </a:p>
                  </a:txBody>
                  <a:tcPr/>
                </a:tc>
                <a:extLst>
                  <a:ext uri="{0D108BD9-81ED-4DB2-BD59-A6C34878D82A}">
                    <a16:rowId xmlns:a16="http://schemas.microsoft.com/office/drawing/2014/main" val="1592029941"/>
                  </a:ext>
                </a:extLst>
              </a:tr>
            </a:tbl>
          </a:graphicData>
        </a:graphic>
      </p:graphicFrame>
    </p:spTree>
    <p:extLst>
      <p:ext uri="{BB962C8B-B14F-4D97-AF65-F5344CB8AC3E}">
        <p14:creationId xmlns:p14="http://schemas.microsoft.com/office/powerpoint/2010/main" val="1716437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44514-DC3E-4111-BCFF-7D8AD9D7F8A7}"/>
              </a:ext>
            </a:extLst>
          </p:cNvPr>
          <p:cNvSpPr>
            <a:spLocks noGrp="1"/>
          </p:cNvSpPr>
          <p:nvPr>
            <p:ph type="title"/>
          </p:nvPr>
        </p:nvSpPr>
        <p:spPr/>
        <p:txBody>
          <a:bodyPr/>
          <a:lstStyle/>
          <a:p>
            <a:r>
              <a:rPr kumimoji="0" lang="en-US" sz="4000" b="1" i="0" u="none" strike="noStrike" kern="1200" cap="none" spc="0" normalizeH="0" baseline="0" noProof="0" dirty="0">
                <a:ln>
                  <a:noFill/>
                </a:ln>
                <a:solidFill>
                  <a:srgbClr val="077FAB"/>
                </a:solidFill>
                <a:effectLst/>
                <a:uLnTx/>
                <a:uFillTx/>
                <a:latin typeface="proxima-nova"/>
                <a:ea typeface="+mj-ea"/>
                <a:cs typeface="+mj-cs"/>
              </a:rPr>
              <a:t>Sociological Theories of Deviance (continue)</a:t>
            </a:r>
            <a:endParaRPr lang="en-US" dirty="0"/>
          </a:p>
        </p:txBody>
      </p:sp>
      <p:sp>
        <p:nvSpPr>
          <p:cNvPr id="11" name="Content Placeholder 10">
            <a:extLst>
              <a:ext uri="{FF2B5EF4-FFF2-40B4-BE49-F238E27FC236}">
                <a16:creationId xmlns:a16="http://schemas.microsoft.com/office/drawing/2014/main" id="{FC550EA8-B54E-4809-A379-A5DC98094C2D}"/>
              </a:ext>
            </a:extLst>
          </p:cNvPr>
          <p:cNvSpPr>
            <a:spLocks noGrp="1"/>
          </p:cNvSpPr>
          <p:nvPr>
            <p:ph idx="1"/>
          </p:nvPr>
        </p:nvSpPr>
        <p:spPr/>
        <p:txBody>
          <a:bodyPr>
            <a:normAutofit fontScale="92500" lnSpcReduction="10000"/>
          </a:bodyPr>
          <a:lstStyle/>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Conformity involves the acceptance of the cultural goals and means of attaining those goals.</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Innovation involves the acceptance of the goals of a culture but the rejection of the traditional and/or legitimate means of attaining those goals. </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Ritualism involves the rejection of cultural goals but the routinized acceptance of the means for achieving the goals.</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Retreatism involves the rejection of both the cultural goals and the traditional means of achieving those goals.</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Rebellion is a special case wherein the individual rejects both the cultural goals and traditional means of achieving them but actively attempts to replace both elements of the society with different goals and means.</a:t>
            </a:r>
          </a:p>
          <a:p>
            <a:endParaRPr lang="en-US" dirty="0"/>
          </a:p>
        </p:txBody>
      </p:sp>
    </p:spTree>
    <p:extLst>
      <p:ext uri="{BB962C8B-B14F-4D97-AF65-F5344CB8AC3E}">
        <p14:creationId xmlns:p14="http://schemas.microsoft.com/office/powerpoint/2010/main" val="1041589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4A223-5F86-4154-894E-4B748E31ED68}"/>
              </a:ext>
            </a:extLst>
          </p:cNvPr>
          <p:cNvSpPr>
            <a:spLocks noGrp="1"/>
          </p:cNvSpPr>
          <p:nvPr>
            <p:ph type="title"/>
          </p:nvPr>
        </p:nvSpPr>
        <p:spPr>
          <a:xfrm>
            <a:off x="616259" y="595944"/>
            <a:ext cx="10515600" cy="611419"/>
          </a:xfrm>
        </p:spPr>
        <p:txBody>
          <a:bodyPr>
            <a:normAutofit fontScale="90000"/>
          </a:bodyPr>
          <a:lstStyle/>
          <a:p>
            <a:pPr algn="ctr"/>
            <a:r>
              <a:rPr lang="en-US">
                <a:latin typeface="Times New Roman" panose="02020603050405020304" pitchFamily="18" charset="0"/>
                <a:cs typeface="Times New Roman" panose="02020603050405020304" pitchFamily="18" charset="0"/>
              </a:rPr>
              <a:t>LABELING THEORY OF CRIME</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1EAFD2-4968-4EE2-B5DB-E195D37DF347}"/>
              </a:ext>
            </a:extLst>
          </p:cNvPr>
          <p:cNvSpPr>
            <a:spLocks noGrp="1"/>
          </p:cNvSpPr>
          <p:nvPr>
            <p:ph idx="1"/>
          </p:nvPr>
        </p:nvSpPr>
        <p:spPr>
          <a:xfrm>
            <a:off x="838200" y="1207363"/>
            <a:ext cx="10515600" cy="5442012"/>
          </a:xfrm>
        </p:spPr>
        <p:txBody>
          <a:bodyPr>
            <a:normAutofit/>
          </a:bodyPr>
          <a:lstStyle/>
          <a:p>
            <a:pPr algn="just"/>
            <a:r>
              <a:rPr lang="en-US" b="0" i="0" dirty="0">
                <a:effectLst/>
                <a:latin typeface="Times New Roman" panose="02020603050405020304" pitchFamily="18" charset="0"/>
                <a:cs typeface="Times New Roman" panose="02020603050405020304" pitchFamily="18" charset="0"/>
              </a:rPr>
              <a:t>The first as well as one of the most prominent labeling theorists was </a:t>
            </a:r>
            <a:r>
              <a:rPr lang="en-US" b="0" i="0" u="none" strike="noStrike" dirty="0">
                <a:effectLst/>
                <a:latin typeface="Times New Roman" panose="02020603050405020304" pitchFamily="18" charset="0"/>
                <a:cs typeface="Times New Roman" panose="02020603050405020304" pitchFamily="18" charset="0"/>
              </a:rPr>
              <a:t>Howard Becker</a:t>
            </a:r>
            <a:r>
              <a:rPr lang="en-US" b="0" i="0" dirty="0">
                <a:effectLst/>
                <a:latin typeface="Times New Roman" panose="02020603050405020304" pitchFamily="18" charset="0"/>
                <a:cs typeface="Times New Roman" panose="02020603050405020304" pitchFamily="18" charset="0"/>
              </a:rPr>
              <a:t>, who published his groundbreaking work </a:t>
            </a:r>
            <a:r>
              <a:rPr lang="en-US" b="0" i="1" u="none" strike="noStrike" dirty="0">
                <a:effectLst/>
                <a:latin typeface="Times New Roman" panose="02020603050405020304" pitchFamily="18" charset="0"/>
                <a:cs typeface="Times New Roman" panose="02020603050405020304" pitchFamily="18" charset="0"/>
              </a:rPr>
              <a:t>Outsiders</a:t>
            </a:r>
            <a:r>
              <a:rPr lang="en-US" b="0" i="0" dirty="0">
                <a:effectLst/>
                <a:latin typeface="Times New Roman" panose="02020603050405020304" pitchFamily="18" charset="0"/>
                <a:cs typeface="Times New Roman" panose="02020603050405020304" pitchFamily="18" charset="0"/>
              </a:rPr>
              <a:t> in 1963.</a:t>
            </a:r>
          </a:p>
          <a:p>
            <a:pPr algn="just"/>
            <a:r>
              <a:rPr lang="en-US" b="1" i="0" dirty="0">
                <a:effectLst/>
                <a:latin typeface="Times New Roman" panose="02020603050405020304" pitchFamily="18" charset="0"/>
                <a:cs typeface="Times New Roman" panose="02020603050405020304" pitchFamily="18" charset="0"/>
              </a:rPr>
              <a:t>Labeling theory</a:t>
            </a:r>
            <a:r>
              <a:rPr lang="en-US" b="0" i="0" dirty="0">
                <a:effectLst/>
                <a:latin typeface="Times New Roman" panose="02020603050405020304" pitchFamily="18" charset="0"/>
                <a:cs typeface="Times New Roman" panose="02020603050405020304" pitchFamily="18" charset="0"/>
              </a:rPr>
              <a:t> indicates that society's assigning of labels to individuals or certain groups can have an effect on their behavior. This theory, in relation to sociology, criminology, and psychology, has shown that labeling someone as a criminal can lead to bad conduct. The theory purports that society's establishing someone as a criminal based on deviant behavior It may lead others to mistreat the person labeled as a criminal. In other words, individuals may face </a:t>
            </a:r>
            <a:r>
              <a:rPr lang="en-US" b="1" i="0" dirty="0">
                <a:effectLst/>
                <a:latin typeface="Times New Roman" panose="02020603050405020304" pitchFamily="18" charset="0"/>
                <a:cs typeface="Times New Roman" panose="02020603050405020304" pitchFamily="18" charset="0"/>
              </a:rPr>
              <a:t>stigma</a:t>
            </a:r>
            <a:r>
              <a:rPr lang="en-US" b="0" i="0" dirty="0">
                <a:effectLst/>
                <a:latin typeface="Times New Roman" panose="02020603050405020304" pitchFamily="18" charset="0"/>
                <a:cs typeface="Times New Roman" panose="02020603050405020304" pitchFamily="18" charset="0"/>
              </a:rPr>
              <a:t>, and discrimination against them because of the criminal label.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3182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19B71-EE97-4C93-A990-88D02C112A7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LABELING THEORY </a:t>
            </a:r>
            <a:r>
              <a:rPr lang="en-US">
                <a:latin typeface="Times New Roman" panose="02020603050405020304" pitchFamily="18" charset="0"/>
                <a:cs typeface="Times New Roman" panose="02020603050405020304" pitchFamily="18" charset="0"/>
              </a:rPr>
              <a:t>(continue)</a:t>
            </a:r>
            <a:endParaRPr lang="en-US"/>
          </a:p>
        </p:txBody>
      </p:sp>
      <p:sp>
        <p:nvSpPr>
          <p:cNvPr id="3" name="Content Placeholder 2">
            <a:extLst>
              <a:ext uri="{FF2B5EF4-FFF2-40B4-BE49-F238E27FC236}">
                <a16:creationId xmlns:a16="http://schemas.microsoft.com/office/drawing/2014/main" id="{72FB18E3-68A5-493E-996C-EFD55A075C1A}"/>
              </a:ext>
            </a:extLst>
          </p:cNvPr>
          <p:cNvSpPr>
            <a:spLocks noGrp="1"/>
          </p:cNvSpPr>
          <p:nvPr>
            <p:ph idx="1"/>
          </p:nvPr>
        </p:nvSpPr>
        <p:spPr/>
        <p:txBody>
          <a:bodyPr/>
          <a:lstStyle/>
          <a:p>
            <a:pPr algn="l"/>
            <a:r>
              <a:rPr lang="en-US" b="0" i="0" dirty="0">
                <a:effectLst/>
                <a:latin typeface="Times New Roman" panose="02020603050405020304" pitchFamily="18" charset="0"/>
                <a:cs typeface="Times New Roman" panose="02020603050405020304" pitchFamily="18" charset="0"/>
              </a:rPr>
              <a:t>Therefore, the person might become a criminal. Thus, the focus of the labeling theory is to show that society's perception and treatment of others can cause them to commit wrong acts. Therefore, the person might, in turn, become a criminal.</a:t>
            </a:r>
            <a:endParaRPr lang="en-US" b="1" i="0" dirty="0">
              <a:solidFill>
                <a:srgbClr val="555555"/>
              </a:solidFill>
              <a:effectLst/>
              <a:latin typeface="Open Sans" panose="020B0606030504020204" pitchFamily="34" charset="0"/>
            </a:endParaRPr>
          </a:p>
          <a:p>
            <a:pPr algn="just"/>
            <a:r>
              <a:rPr lang="en-US" b="1" i="0" dirty="0">
                <a:solidFill>
                  <a:srgbClr val="555555"/>
                </a:solidFill>
                <a:effectLst/>
                <a:latin typeface="Times New Roman" panose="02020603050405020304" pitchFamily="18" charset="0"/>
                <a:cs typeface="Times New Roman" panose="02020603050405020304" pitchFamily="18" charset="0"/>
              </a:rPr>
              <a:t>Example </a:t>
            </a:r>
          </a:p>
          <a:p>
            <a:pPr algn="just"/>
            <a:r>
              <a:rPr lang="en-US" b="0" i="0" dirty="0">
                <a:solidFill>
                  <a:srgbClr val="555555"/>
                </a:solidFill>
                <a:effectLst/>
                <a:latin typeface="Times New Roman" panose="02020603050405020304" pitchFamily="18" charset="0"/>
                <a:cs typeface="Times New Roman" panose="02020603050405020304" pitchFamily="18" charset="0"/>
              </a:rPr>
              <a:t>A person can volunteer to remain at home and watch the children as their parents go out on a date. However, if the person has been labeled as a child abuser, people might be suspicious that they might do something bad to the children.</a:t>
            </a:r>
          </a:p>
          <a:p>
            <a:endParaRPr lang="en-US" dirty="0"/>
          </a:p>
        </p:txBody>
      </p:sp>
    </p:spTree>
    <p:extLst>
      <p:ext uri="{BB962C8B-B14F-4D97-AF65-F5344CB8AC3E}">
        <p14:creationId xmlns:p14="http://schemas.microsoft.com/office/powerpoint/2010/main" val="232938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TotalTime>
  <Words>931</Words>
  <Application>Microsoft Office PowerPoint</Application>
  <PresentationFormat>Widescreen</PresentationFormat>
  <Paragraphs>112</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Open Sans</vt:lpstr>
      <vt:lpstr>proxima-nova</vt:lpstr>
      <vt:lpstr>Times New Roman</vt:lpstr>
      <vt:lpstr>Office Theme</vt:lpstr>
      <vt:lpstr>Topic: Crime and deviance </vt:lpstr>
      <vt:lpstr>Crime</vt:lpstr>
      <vt:lpstr>The causes and consequences of crime </vt:lpstr>
      <vt:lpstr>Deviance</vt:lpstr>
      <vt:lpstr>Differences between deviance and crime</vt:lpstr>
      <vt:lpstr>Causes of juvenile delinquency</vt:lpstr>
      <vt:lpstr>Causes of juvenile delinquency (continue)</vt:lpstr>
      <vt:lpstr>Sociological Theories of Deviance </vt:lpstr>
      <vt:lpstr>Sociological Theories of Deviance (continue)</vt:lpstr>
      <vt:lpstr>Sociological Theories of Deviance (continue)</vt:lpstr>
      <vt:lpstr>LABELING THEORY OF CRIME</vt:lpstr>
      <vt:lpstr>LABELING THEORY (continue)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13</cp:revision>
  <dcterms:created xsi:type="dcterms:W3CDTF">2022-04-24T15:29:14Z</dcterms:created>
  <dcterms:modified xsi:type="dcterms:W3CDTF">2025-09-25T03:56:24Z</dcterms:modified>
</cp:coreProperties>
</file>