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320" y="-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623126D-B430-48CE-8B38-1EB97F0EF7BA}" type="datetimeFigureOut">
              <a:rPr lang="en-US" smtClean="0"/>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F656C0-43A5-49A9-A4F7-38CC063E24C4}" type="slidenum">
              <a:rPr lang="en-US" smtClean="0"/>
              <a:t>‹#›</a:t>
            </a:fld>
            <a:endParaRPr lang="en-US"/>
          </a:p>
        </p:txBody>
      </p:sp>
    </p:spTree>
    <p:extLst>
      <p:ext uri="{BB962C8B-B14F-4D97-AF65-F5344CB8AC3E}">
        <p14:creationId xmlns:p14="http://schemas.microsoft.com/office/powerpoint/2010/main" val="4208275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23126D-B430-48CE-8B38-1EB97F0EF7BA}" type="datetimeFigureOut">
              <a:rPr lang="en-US" smtClean="0"/>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F656C0-43A5-49A9-A4F7-38CC063E24C4}" type="slidenum">
              <a:rPr lang="en-US" smtClean="0"/>
              <a:t>‹#›</a:t>
            </a:fld>
            <a:endParaRPr lang="en-US"/>
          </a:p>
        </p:txBody>
      </p:sp>
    </p:spTree>
    <p:extLst>
      <p:ext uri="{BB962C8B-B14F-4D97-AF65-F5344CB8AC3E}">
        <p14:creationId xmlns:p14="http://schemas.microsoft.com/office/powerpoint/2010/main" val="2532924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23126D-B430-48CE-8B38-1EB97F0EF7BA}" type="datetimeFigureOut">
              <a:rPr lang="en-US" smtClean="0"/>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F656C0-43A5-49A9-A4F7-38CC063E24C4}" type="slidenum">
              <a:rPr lang="en-US" smtClean="0"/>
              <a:t>‹#›</a:t>
            </a:fld>
            <a:endParaRPr lang="en-US"/>
          </a:p>
        </p:txBody>
      </p:sp>
    </p:spTree>
    <p:extLst>
      <p:ext uri="{BB962C8B-B14F-4D97-AF65-F5344CB8AC3E}">
        <p14:creationId xmlns:p14="http://schemas.microsoft.com/office/powerpoint/2010/main" val="3137289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623126D-B430-48CE-8B38-1EB97F0EF7BA}" type="datetimeFigureOut">
              <a:rPr lang="en-US" smtClean="0"/>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F656C0-43A5-49A9-A4F7-38CC063E24C4}" type="slidenum">
              <a:rPr lang="en-US" smtClean="0"/>
              <a:t>‹#›</a:t>
            </a:fld>
            <a:endParaRPr lang="en-US"/>
          </a:p>
        </p:txBody>
      </p:sp>
    </p:spTree>
    <p:extLst>
      <p:ext uri="{BB962C8B-B14F-4D97-AF65-F5344CB8AC3E}">
        <p14:creationId xmlns:p14="http://schemas.microsoft.com/office/powerpoint/2010/main" val="779829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623126D-B430-48CE-8B38-1EB97F0EF7BA}" type="datetimeFigureOut">
              <a:rPr lang="en-US" smtClean="0"/>
              <a:t>9/6/2025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F656C0-43A5-49A9-A4F7-38CC063E24C4}" type="slidenum">
              <a:rPr lang="en-US" smtClean="0"/>
              <a:t>‹#›</a:t>
            </a:fld>
            <a:endParaRPr lang="en-US"/>
          </a:p>
        </p:txBody>
      </p:sp>
    </p:spTree>
    <p:extLst>
      <p:ext uri="{BB962C8B-B14F-4D97-AF65-F5344CB8AC3E}">
        <p14:creationId xmlns:p14="http://schemas.microsoft.com/office/powerpoint/2010/main" val="820923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623126D-B430-48CE-8B38-1EB97F0EF7BA}" type="datetimeFigureOut">
              <a:rPr lang="en-US" smtClean="0"/>
              <a:t>9/6/2025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F656C0-43A5-49A9-A4F7-38CC063E24C4}" type="slidenum">
              <a:rPr lang="en-US" smtClean="0"/>
              <a:t>‹#›</a:t>
            </a:fld>
            <a:endParaRPr lang="en-US"/>
          </a:p>
        </p:txBody>
      </p:sp>
    </p:spTree>
    <p:extLst>
      <p:ext uri="{BB962C8B-B14F-4D97-AF65-F5344CB8AC3E}">
        <p14:creationId xmlns:p14="http://schemas.microsoft.com/office/powerpoint/2010/main" val="2001914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23126D-B430-48CE-8B38-1EB97F0EF7BA}" type="datetimeFigureOut">
              <a:rPr lang="en-US" smtClean="0"/>
              <a:t>9/6/2025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F656C0-43A5-49A9-A4F7-38CC063E24C4}" type="slidenum">
              <a:rPr lang="en-US" smtClean="0"/>
              <a:t>‹#›</a:t>
            </a:fld>
            <a:endParaRPr lang="en-US"/>
          </a:p>
        </p:txBody>
      </p:sp>
    </p:spTree>
    <p:extLst>
      <p:ext uri="{BB962C8B-B14F-4D97-AF65-F5344CB8AC3E}">
        <p14:creationId xmlns:p14="http://schemas.microsoft.com/office/powerpoint/2010/main" val="400450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23126D-B430-48CE-8B38-1EB97F0EF7BA}" type="datetimeFigureOut">
              <a:rPr lang="en-US" smtClean="0"/>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F656C0-43A5-49A9-A4F7-38CC063E24C4}" type="slidenum">
              <a:rPr lang="en-US" smtClean="0"/>
              <a:t>‹#›</a:t>
            </a:fld>
            <a:endParaRPr lang="en-US"/>
          </a:p>
        </p:txBody>
      </p:sp>
    </p:spTree>
    <p:extLst>
      <p:ext uri="{BB962C8B-B14F-4D97-AF65-F5344CB8AC3E}">
        <p14:creationId xmlns:p14="http://schemas.microsoft.com/office/powerpoint/2010/main" val="1637140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23126D-B430-48CE-8B38-1EB97F0EF7BA}" type="datetimeFigureOut">
              <a:rPr lang="en-US" smtClean="0"/>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F656C0-43A5-49A9-A4F7-38CC063E24C4}" type="slidenum">
              <a:rPr lang="en-US" smtClean="0"/>
              <a:t>‹#›</a:t>
            </a:fld>
            <a:endParaRPr lang="en-US"/>
          </a:p>
        </p:txBody>
      </p:sp>
    </p:spTree>
    <p:extLst>
      <p:ext uri="{BB962C8B-B14F-4D97-AF65-F5344CB8AC3E}">
        <p14:creationId xmlns:p14="http://schemas.microsoft.com/office/powerpoint/2010/main" val="33656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23126D-B430-48CE-8B38-1EB97F0EF7BA}" type="datetimeFigureOut">
              <a:rPr lang="en-US" smtClean="0"/>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F656C0-43A5-49A9-A4F7-38CC063E24C4}" type="slidenum">
              <a:rPr lang="en-US" smtClean="0"/>
              <a:t>‹#›</a:t>
            </a:fld>
            <a:endParaRPr lang="en-US"/>
          </a:p>
        </p:txBody>
      </p:sp>
    </p:spTree>
    <p:extLst>
      <p:ext uri="{BB962C8B-B14F-4D97-AF65-F5344CB8AC3E}">
        <p14:creationId xmlns:p14="http://schemas.microsoft.com/office/powerpoint/2010/main" val="241549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23126D-B430-48CE-8B38-1EB97F0EF7BA}" type="datetimeFigureOut">
              <a:rPr lang="en-US" smtClean="0"/>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F656C0-43A5-49A9-A4F7-38CC063E24C4}" type="slidenum">
              <a:rPr lang="en-US" smtClean="0"/>
              <a:t>‹#›</a:t>
            </a:fld>
            <a:endParaRPr lang="en-US"/>
          </a:p>
        </p:txBody>
      </p:sp>
    </p:spTree>
    <p:extLst>
      <p:ext uri="{BB962C8B-B14F-4D97-AF65-F5344CB8AC3E}">
        <p14:creationId xmlns:p14="http://schemas.microsoft.com/office/powerpoint/2010/main" val="3150070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23126D-B430-48CE-8B38-1EB97F0EF7BA}" type="datetimeFigureOut">
              <a:rPr lang="en-US" smtClean="0"/>
              <a:t>9/6/2025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F656C0-43A5-49A9-A4F7-38CC063E24C4}" type="slidenum">
              <a:rPr lang="en-US" smtClean="0"/>
              <a:t>‹#›</a:t>
            </a:fld>
            <a:endParaRPr lang="en-US"/>
          </a:p>
        </p:txBody>
      </p:sp>
    </p:spTree>
    <p:extLst>
      <p:ext uri="{BB962C8B-B14F-4D97-AF65-F5344CB8AC3E}">
        <p14:creationId xmlns:p14="http://schemas.microsoft.com/office/powerpoint/2010/main" val="14839726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50378"/>
            <a:ext cx="9144000" cy="4907422"/>
          </a:xfrm>
        </p:spPr>
        <p:txBody>
          <a:bodyPr/>
          <a:lstStyle/>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Topic Socialization and Social Structure, part one</a:t>
            </a:r>
          </a:p>
          <a:p>
            <a:endParaRPr lang="en-US" sz="2800"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Ety Rani</a:t>
            </a:r>
          </a:p>
          <a:p>
            <a:r>
              <a:rPr lang="en-US" b="1" dirty="0">
                <a:latin typeface="Times New Roman" panose="02020603050405020304" pitchFamily="18" charset="0"/>
                <a:cs typeface="Times New Roman" panose="02020603050405020304" pitchFamily="18" charset="0"/>
              </a:rPr>
              <a:t>Assistant Professor</a:t>
            </a:r>
          </a:p>
          <a:p>
            <a:r>
              <a:rPr lang="en-US" b="1" dirty="0">
                <a:latin typeface="Times New Roman" panose="02020603050405020304" pitchFamily="18" charset="0"/>
                <a:cs typeface="Times New Roman" panose="02020603050405020304" pitchFamily="18" charset="0"/>
              </a:rPr>
              <a:t>Sociology discipline</a:t>
            </a:r>
          </a:p>
          <a:p>
            <a:r>
              <a:rPr lang="en-US" b="1" dirty="0">
                <a:latin typeface="Times New Roman" panose="02020603050405020304" pitchFamily="18" charset="0"/>
                <a:cs typeface="Times New Roman" panose="02020603050405020304" pitchFamily="18" charset="0"/>
              </a:rPr>
              <a:t> Khulna University</a:t>
            </a: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9765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5099"/>
            <a:ext cx="10515600" cy="5971864"/>
          </a:xfrm>
        </p:spPr>
        <p:txBody>
          <a:bodyPr/>
          <a:lstStyle/>
          <a:p>
            <a:pPr marL="0" indent="0">
              <a:buNone/>
            </a:pPr>
            <a:r>
              <a:rPr lang="en-US" dirty="0"/>
              <a:t> </a:t>
            </a:r>
            <a:r>
              <a:rPr lang="en-US" sz="2400" b="1" dirty="0">
                <a:latin typeface="Times New Roman" panose="02020603050405020304" pitchFamily="18" charset="0"/>
                <a:cs typeface="Times New Roman" panose="02020603050405020304" pitchFamily="18" charset="0"/>
              </a:rPr>
              <a:t>(Please see book </a:t>
            </a:r>
            <a:r>
              <a:rPr lang="en-US" sz="2400" b="1" dirty="0" err="1">
                <a:latin typeface="Times New Roman" panose="02020603050405020304" pitchFamily="18" charset="0"/>
                <a:cs typeface="Times New Roman" panose="02020603050405020304" pitchFamily="18" charset="0"/>
              </a:rPr>
              <a:t>Zerihun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Doda</a:t>
            </a:r>
            <a:r>
              <a:rPr lang="en-US" sz="2400" b="1" dirty="0">
                <a:latin typeface="Times New Roman" panose="02020603050405020304" pitchFamily="18" charset="0"/>
                <a:cs typeface="Times New Roman" panose="02020603050405020304" pitchFamily="18" charset="0"/>
              </a:rPr>
              <a:t>, Introduction to Sociology, 2005 on Socialization).</a:t>
            </a:r>
          </a:p>
          <a:p>
            <a:pPr marL="0" indent="0">
              <a:buNone/>
            </a:pPr>
            <a:r>
              <a:rPr lang="en-US" sz="2400" b="1" dirty="0">
                <a:latin typeface="Times New Roman" panose="02020603050405020304" pitchFamily="18" charset="0"/>
                <a:cs typeface="Times New Roman" panose="02020603050405020304" pitchFamily="18" charset="0"/>
              </a:rPr>
              <a:t>				Socialization</a:t>
            </a:r>
          </a:p>
          <a:p>
            <a:r>
              <a:rPr lang="en-US" sz="2000" b="1" dirty="0">
                <a:latin typeface="Times New Roman" panose="02020603050405020304" pitchFamily="18" charset="0"/>
                <a:cs typeface="Times New Roman" panose="02020603050405020304" pitchFamily="18" charset="0"/>
              </a:rPr>
              <a:t>Socialization </a:t>
            </a:r>
            <a:r>
              <a:rPr lang="en-US" sz="2000" dirty="0">
                <a:latin typeface="Times New Roman" panose="02020603050405020304" pitchFamily="18" charset="0"/>
                <a:cs typeface="Times New Roman" panose="02020603050405020304" pitchFamily="18" charset="0"/>
              </a:rPr>
              <a:t>is a process of making somebody social and fully human. Or more appropriately, it is a process whereby individual persons learn and are trained in the basic norms, values, beliefs, skills, attitudes, way of doing and acting as appropriate to a specific social group or society. (</a:t>
            </a:r>
            <a:r>
              <a:rPr lang="en-US" sz="2000" b="1" dirty="0" err="1">
                <a:latin typeface="Times New Roman" panose="02020603050405020304" pitchFamily="18" charset="0"/>
                <a:cs typeface="Times New Roman" panose="02020603050405020304" pitchFamily="18" charset="0"/>
              </a:rPr>
              <a:t>Doda</a:t>
            </a:r>
            <a:r>
              <a:rPr lang="en-US" sz="2000" b="1" dirty="0">
                <a:latin typeface="Times New Roman" panose="02020603050405020304" pitchFamily="18" charset="0"/>
                <a:cs typeface="Times New Roman" panose="02020603050405020304" pitchFamily="18" charset="0"/>
              </a:rPr>
              <a:t>, Introduction to Sociology; 2005).</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It is an on-going, never ending process- from cradle to the grave. That means an individual person passes thorough various stages of socialization, from birth to death. Thus, we need socialization as infants, preschool children, schoolboys/girls, </a:t>
            </a:r>
            <a:r>
              <a:rPr lang="en-US" sz="2000" dirty="0" err="1">
                <a:latin typeface="Times New Roman" panose="02020603050405020304" pitchFamily="18" charset="0"/>
                <a:cs typeface="Times New Roman" panose="02020603050405020304" pitchFamily="18" charset="0"/>
              </a:rPr>
              <a:t>pubescents</a:t>
            </a:r>
            <a:r>
              <a:rPr lang="en-US" sz="2000" dirty="0">
                <a:latin typeface="Times New Roman" panose="02020603050405020304" pitchFamily="18" charset="0"/>
                <a:cs typeface="Times New Roman" panose="02020603050405020304" pitchFamily="18" charset="0"/>
              </a:rPr>
              <a:t>, adolescents, adults and older persons.</a:t>
            </a:r>
          </a:p>
          <a:p>
            <a:r>
              <a:rPr lang="en-US" sz="2000" dirty="0">
                <a:latin typeface="Times New Roman" panose="02020603050405020304" pitchFamily="18" charset="0"/>
                <a:cs typeface="Times New Roman" panose="02020603050405020304" pitchFamily="18" charset="0"/>
              </a:rPr>
              <a:t>“ Socialization is the process whereby people learn the attitude, values and actions appropriate to individuals as members of a particular culture” </a:t>
            </a:r>
            <a:r>
              <a:rPr lang="en-US" sz="2000" b="1" dirty="0">
                <a:latin typeface="Times New Roman" panose="02020603050405020304" pitchFamily="18" charset="0"/>
                <a:cs typeface="Times New Roman" panose="02020603050405020304" pitchFamily="18" charset="0"/>
              </a:rPr>
              <a:t>( Schaefer, Sociology;1983).</a:t>
            </a:r>
          </a:p>
          <a:p>
            <a:r>
              <a:rPr lang="en-US" sz="2000" dirty="0">
                <a:latin typeface="Times New Roman" panose="02020603050405020304" pitchFamily="18" charset="0"/>
                <a:cs typeface="Times New Roman" panose="02020603050405020304" pitchFamily="18" charset="0"/>
              </a:rPr>
              <a:t>“Socialization is the process whereby the helpless infant gradually becomes a self-aware, knowledgeable person, skilled in the ways of the culture into which he or she was born” </a:t>
            </a:r>
            <a:r>
              <a:rPr lang="en-US" sz="2000" b="1" dirty="0">
                <a:latin typeface="Times New Roman" panose="02020603050405020304" pitchFamily="18" charset="0"/>
                <a:cs typeface="Times New Roman" panose="02020603050405020304" pitchFamily="18" charset="0"/>
              </a:rPr>
              <a:t>(Giddens, Sociology, fifth edition, 2006).</a:t>
            </a:r>
          </a:p>
          <a:p>
            <a:endParaRPr lang="en-US" sz="2000"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0614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13509"/>
            <a:ext cx="10515600" cy="5863454"/>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Types of socialization</a:t>
            </a:r>
          </a:p>
          <a:p>
            <a:pPr algn="just"/>
            <a:r>
              <a:rPr lang="en-US" sz="2200" dirty="0">
                <a:latin typeface="Times New Roman" panose="02020603050405020304" pitchFamily="18" charset="0"/>
                <a:cs typeface="Times New Roman" panose="02020603050405020304" pitchFamily="18" charset="0"/>
              </a:rPr>
              <a:t>There are different types of socialization; the major ones include: </a:t>
            </a:r>
            <a:r>
              <a:rPr lang="en-US" sz="2200" b="1" dirty="0">
                <a:latin typeface="Times New Roman" panose="02020603050405020304" pitchFamily="18" charset="0"/>
                <a:cs typeface="Times New Roman" panose="02020603050405020304" pitchFamily="18" charset="0"/>
              </a:rPr>
              <a:t>primary </a:t>
            </a:r>
            <a:r>
              <a:rPr lang="en-US" sz="2200" dirty="0">
                <a:latin typeface="Times New Roman" panose="02020603050405020304" pitchFamily="18" charset="0"/>
                <a:cs typeface="Times New Roman" panose="02020603050405020304" pitchFamily="18" charset="0"/>
              </a:rPr>
              <a:t>or </a:t>
            </a:r>
            <a:r>
              <a:rPr lang="en-US" sz="2200" b="1" dirty="0">
                <a:latin typeface="Times New Roman" panose="02020603050405020304" pitchFamily="18" charset="0"/>
                <a:cs typeface="Times New Roman" panose="02020603050405020304" pitchFamily="18" charset="0"/>
              </a:rPr>
              <a:t>childhood </a:t>
            </a:r>
            <a:r>
              <a:rPr lang="en-US" sz="2200" dirty="0">
                <a:latin typeface="Times New Roman" panose="02020603050405020304" pitchFamily="18" charset="0"/>
                <a:cs typeface="Times New Roman" panose="02020603050405020304" pitchFamily="18" charset="0"/>
              </a:rPr>
              <a:t>socialization, </a:t>
            </a:r>
            <a:r>
              <a:rPr lang="en-US" sz="2200" b="1" dirty="0">
                <a:latin typeface="Times New Roman" panose="02020603050405020304" pitchFamily="18" charset="0"/>
                <a:cs typeface="Times New Roman" panose="02020603050405020304" pitchFamily="18" charset="0"/>
              </a:rPr>
              <a:t>secondary </a:t>
            </a:r>
            <a:r>
              <a:rPr lang="en-US" sz="2200" dirty="0">
                <a:latin typeface="Times New Roman" panose="02020603050405020304" pitchFamily="18" charset="0"/>
                <a:cs typeface="Times New Roman" panose="02020603050405020304" pitchFamily="18" charset="0"/>
              </a:rPr>
              <a:t>or </a:t>
            </a:r>
            <a:r>
              <a:rPr lang="en-US" sz="2200" b="1" dirty="0">
                <a:latin typeface="Times New Roman" panose="02020603050405020304" pitchFamily="18" charset="0"/>
                <a:cs typeface="Times New Roman" panose="02020603050405020304" pitchFamily="18" charset="0"/>
              </a:rPr>
              <a:t>adulthood </a:t>
            </a:r>
            <a:r>
              <a:rPr lang="en-US" sz="2200" dirty="0">
                <a:latin typeface="Times New Roman" panose="02020603050405020304" pitchFamily="18" charset="0"/>
                <a:cs typeface="Times New Roman" panose="02020603050405020304" pitchFamily="18" charset="0"/>
              </a:rPr>
              <a:t>socialization, </a:t>
            </a:r>
            <a:r>
              <a:rPr lang="en-US" sz="2200" b="1" dirty="0">
                <a:latin typeface="Times New Roman" panose="02020603050405020304" pitchFamily="18" charset="0"/>
                <a:cs typeface="Times New Roman" panose="02020603050405020304" pitchFamily="18" charset="0"/>
              </a:rPr>
              <a:t>de-socialization </a:t>
            </a:r>
            <a:r>
              <a:rPr lang="en-US" sz="2200" dirty="0">
                <a:latin typeface="Times New Roman" panose="02020603050405020304" pitchFamily="18" charset="0"/>
                <a:cs typeface="Times New Roman" panose="02020603050405020304" pitchFamily="18" charset="0"/>
              </a:rPr>
              <a:t>and </a:t>
            </a:r>
            <a:r>
              <a:rPr lang="en-US" sz="2200" b="1" dirty="0" err="1">
                <a:latin typeface="Times New Roman" panose="02020603050405020304" pitchFamily="18" charset="0"/>
                <a:cs typeface="Times New Roman" panose="02020603050405020304" pitchFamily="18" charset="0"/>
              </a:rPr>
              <a:t>resocialization</a:t>
            </a:r>
            <a:r>
              <a:rPr lang="en-US" sz="2200" dirty="0">
                <a:latin typeface="Times New Roman" panose="02020603050405020304" pitchFamily="18" charset="0"/>
                <a:cs typeface="Times New Roman" panose="02020603050405020304" pitchFamily="18" charset="0"/>
              </a:rPr>
              <a:t>. Other minor types of socialization include: </a:t>
            </a:r>
            <a:r>
              <a:rPr lang="en-US" sz="2200" b="1" dirty="0">
                <a:latin typeface="Times New Roman" panose="02020603050405020304" pitchFamily="18" charset="0"/>
                <a:cs typeface="Times New Roman" panose="02020603050405020304" pitchFamily="18" charset="0"/>
              </a:rPr>
              <a:t>anticipatory </a:t>
            </a:r>
            <a:r>
              <a:rPr lang="en-US" sz="2200" dirty="0">
                <a:latin typeface="Times New Roman" panose="02020603050405020304" pitchFamily="18" charset="0"/>
                <a:cs typeface="Times New Roman" panose="02020603050405020304" pitchFamily="18" charset="0"/>
              </a:rPr>
              <a:t>socialization and </a:t>
            </a:r>
            <a:r>
              <a:rPr lang="en-US" sz="2200" b="1" dirty="0">
                <a:latin typeface="Times New Roman" panose="02020603050405020304" pitchFamily="18" charset="0"/>
                <a:cs typeface="Times New Roman" panose="02020603050405020304" pitchFamily="18" charset="0"/>
              </a:rPr>
              <a:t>reverse </a:t>
            </a:r>
            <a:r>
              <a:rPr lang="en-US" sz="2200" dirty="0">
                <a:latin typeface="Times New Roman" panose="02020603050405020304" pitchFamily="18" charset="0"/>
                <a:cs typeface="Times New Roman" panose="02020603050405020304" pitchFamily="18" charset="0"/>
              </a:rPr>
              <a:t>socialization </a:t>
            </a:r>
            <a:r>
              <a:rPr lang="da-DK" sz="2200" dirty="0">
                <a:latin typeface="Times New Roman" panose="02020603050405020304" pitchFamily="18" charset="0"/>
                <a:cs typeface="Times New Roman" panose="02020603050405020304" pitchFamily="18" charset="0"/>
              </a:rPr>
              <a:t>(Calhoun </a:t>
            </a:r>
            <a:r>
              <a:rPr lang="da-DK" sz="2200" i="1" dirty="0">
                <a:latin typeface="Times New Roman" panose="02020603050405020304" pitchFamily="18" charset="0"/>
                <a:cs typeface="Times New Roman" panose="02020603050405020304" pitchFamily="18" charset="0"/>
              </a:rPr>
              <a:t>et al, </a:t>
            </a:r>
            <a:r>
              <a:rPr lang="da-DK" sz="2200" dirty="0">
                <a:latin typeface="Times New Roman" panose="02020603050405020304" pitchFamily="18" charset="0"/>
                <a:cs typeface="Times New Roman" panose="02020603050405020304" pitchFamily="18" charset="0"/>
              </a:rPr>
              <a:t>1994; Henslin and Nelson, 1995; Soroka, </a:t>
            </a:r>
            <a:r>
              <a:rPr lang="en-US" sz="2200" dirty="0">
                <a:latin typeface="Times New Roman" panose="02020603050405020304" pitchFamily="18" charset="0"/>
                <a:cs typeface="Times New Roman" panose="02020603050405020304" pitchFamily="18" charset="0"/>
              </a:rPr>
              <a:t>1996; </a:t>
            </a:r>
            <a:r>
              <a:rPr lang="en-US" sz="2200" dirty="0" err="1">
                <a:latin typeface="Times New Roman" panose="02020603050405020304" pitchFamily="18" charset="0"/>
                <a:cs typeface="Times New Roman" panose="02020603050405020304" pitchFamily="18" charset="0"/>
              </a:rPr>
              <a:t>Macionis</a:t>
            </a:r>
            <a:r>
              <a:rPr lang="en-US" sz="2200" dirty="0">
                <a:latin typeface="Times New Roman" panose="02020603050405020304" pitchFamily="18" charset="0"/>
                <a:cs typeface="Times New Roman" panose="02020603050405020304" pitchFamily="18" charset="0"/>
              </a:rPr>
              <a:t>, 1997)</a:t>
            </a:r>
          </a:p>
          <a:p>
            <a:pPr marL="0" indent="0" algn="just">
              <a:buNone/>
            </a:pPr>
            <a:r>
              <a:rPr lang="en-US" sz="2200" b="1" dirty="0">
                <a:latin typeface="Times New Roman" panose="02020603050405020304" pitchFamily="18" charset="0"/>
                <a:cs typeface="Times New Roman" panose="02020603050405020304" pitchFamily="18" charset="0"/>
              </a:rPr>
              <a:t>1. Primary or childhood socialization: </a:t>
            </a:r>
            <a:r>
              <a:rPr lang="en-US" sz="2200" dirty="0">
                <a:latin typeface="Times New Roman" panose="02020603050405020304" pitchFamily="18" charset="0"/>
                <a:cs typeface="Times New Roman" panose="02020603050405020304" pitchFamily="18" charset="0"/>
              </a:rPr>
              <a:t>This is also called </a:t>
            </a:r>
            <a:r>
              <a:rPr lang="en-US" sz="2200" b="1" dirty="0">
                <a:latin typeface="Times New Roman" panose="02020603050405020304" pitchFamily="18" charset="0"/>
                <a:cs typeface="Times New Roman" panose="02020603050405020304" pitchFamily="18" charset="0"/>
              </a:rPr>
              <a:t>basic </a:t>
            </a:r>
            <a:r>
              <a:rPr lang="en-US" sz="2200" dirty="0">
                <a:latin typeface="Times New Roman" panose="02020603050405020304" pitchFamily="18" charset="0"/>
                <a:cs typeface="Times New Roman" panose="02020603050405020304" pitchFamily="18" charset="0"/>
              </a:rPr>
              <a:t>or </a:t>
            </a:r>
            <a:r>
              <a:rPr lang="en-US" sz="2200" b="1" dirty="0">
                <a:latin typeface="Times New Roman" panose="02020603050405020304" pitchFamily="18" charset="0"/>
                <a:cs typeface="Times New Roman" panose="02020603050405020304" pitchFamily="18" charset="0"/>
              </a:rPr>
              <a:t>early </a:t>
            </a:r>
            <a:r>
              <a:rPr lang="en-US" sz="2200" dirty="0">
                <a:latin typeface="Times New Roman" panose="02020603050405020304" pitchFamily="18" charset="0"/>
                <a:cs typeface="Times New Roman" panose="02020603050405020304" pitchFamily="18" charset="0"/>
              </a:rPr>
              <a:t>socialization. The terms "primary", "basic" or "early" all signify the overriding importance of the childhood period for socialization. Much of the personality make-up of individuals is forged at this period in life. Socialization at this stage of life is a landmark; without it, we would cease to become social beings. The human infant who is a biological being or organism is changed into a social being mainly at this early stage. Hence, children should be appropriately socialized from birth up to particularly five years of age, because this period is basic and crucial one. A child who does not get appropriate socialization at this stage will most likely be deficient in his/her social, moral, intellectual and personality development</a:t>
            </a:r>
            <a:r>
              <a:rPr lang="en-US" sz="2000" dirty="0">
                <a:latin typeface="Times New Roman" panose="02020603050405020304" pitchFamily="18" charset="0"/>
                <a:cs typeface="Times New Roman" panose="02020603050405020304" pitchFamily="18" charset="0"/>
              </a:rPr>
              <a:t>. The primary socialization takes place in the family.</a:t>
            </a:r>
          </a:p>
        </p:txBody>
      </p:sp>
    </p:spTree>
    <p:extLst>
      <p:ext uri="{BB962C8B-B14F-4D97-AF65-F5344CB8AC3E}">
        <p14:creationId xmlns:p14="http://schemas.microsoft.com/office/powerpoint/2010/main" val="2332119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idx="1"/>
          </p:nvPr>
        </p:nvSpPr>
        <p:spPr>
          <a:xfrm>
            <a:off x="376727" y="102550"/>
            <a:ext cx="10515600" cy="6477712"/>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2. Secondary or Adult Socialization </a:t>
            </a:r>
            <a:r>
              <a:rPr lang="en-US" sz="2000" dirty="0">
                <a:latin typeface="Times New Roman" panose="02020603050405020304" pitchFamily="18" charset="0"/>
                <a:cs typeface="Times New Roman" panose="02020603050405020304" pitchFamily="18" charset="0"/>
              </a:rPr>
              <a:t>While socialization is an overbidding issue for children and adolescents, it is a never-ending process that continues through out life. Secondary or adult socialization is necessitated when individual take up new roles, reorienting themselves according to their changes social statuses and roles, as in starting marital life. The socialization process at this stage may sometimes be intense. For example, fresh college  graduates entering the world of work to start their first jobs, there are quite many new roles to be mastered. Intense adult socialization may also occur among immigrants. When they go to other countries, they may need to learn the language, values, norms, and a host of other custom and folkways. </a:t>
            </a:r>
          </a:p>
          <a:p>
            <a:pPr marL="0" indent="0">
              <a:buNone/>
            </a:pPr>
            <a:r>
              <a:rPr lang="en-US" sz="2000" b="1" dirty="0">
                <a:latin typeface="Times New Roman" panose="02020603050405020304" pitchFamily="18" charset="0"/>
                <a:cs typeface="Times New Roman" panose="02020603050405020304" pitchFamily="18" charset="0"/>
              </a:rPr>
              <a:t>3. Re-socialization and De-socialization: </a:t>
            </a:r>
            <a:r>
              <a:rPr lang="en-US" sz="2000" dirty="0">
                <a:latin typeface="Times New Roman" panose="02020603050405020304" pitchFamily="18" charset="0"/>
                <a:cs typeface="Times New Roman" panose="02020603050405020304" pitchFamily="18" charset="0"/>
              </a:rPr>
              <a:t>Re-socialization means the adoption by adults of radically different norms and life ways that are more or less completely dissimilar to the previous norms and values. Re-socialization signifies the rapid and more basic changes in the adult life. The change may demand abandonment of one lifeway with a new one, which is completely different from, and also incompatible with, the former. For example, when a criminal is rehabilitated, he has to change his role radically.</a:t>
            </a:r>
          </a:p>
          <a:p>
            <a:pPr marL="0" indent="0">
              <a:buNone/>
            </a:pPr>
            <a:r>
              <a:rPr lang="en-US" sz="2000" dirty="0">
                <a:latin typeface="Times New Roman" panose="02020603050405020304" pitchFamily="18" charset="0"/>
                <a:cs typeface="Times New Roman" panose="02020603050405020304" pitchFamily="18" charset="0"/>
              </a:rPr>
              <a:t>De-socialization typically precedes re-socialization. De-socialization refers to stripping individuals of their former life styles, beliefs, values and attitudes so that they may take up other partially or totally new life styles, attitudes and values. The individuals have to abandon their former values and take up new ones in order to become part of the new social group.</a:t>
            </a:r>
            <a:r>
              <a:rPr lang="en-US" sz="2000" dirty="0"/>
              <a:t> </a:t>
            </a:r>
            <a:r>
              <a:rPr lang="en-US" sz="2000" dirty="0">
                <a:latin typeface="Times New Roman" panose="02020603050405020304" pitchFamily="18" charset="0"/>
                <a:cs typeface="Times New Roman" panose="02020603050405020304" pitchFamily="18" charset="0"/>
              </a:rPr>
              <a:t>Persons joining the  new setting have first to be de-socialized, before they are re-socialized.</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1816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1095"/>
            <a:ext cx="10515600" cy="606586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Other minor types of socialization-</a:t>
            </a:r>
            <a:endParaRPr lang="en-US" b="1" dirty="0"/>
          </a:p>
          <a:p>
            <a:pPr marL="0" indent="0" algn="just">
              <a:buNone/>
            </a:pPr>
            <a:r>
              <a:rPr lang="en-US" sz="2000" b="1" dirty="0">
                <a:latin typeface="Times New Roman" panose="02020603050405020304" pitchFamily="18" charset="0"/>
                <a:cs typeface="Times New Roman" panose="02020603050405020304" pitchFamily="18" charset="0"/>
              </a:rPr>
              <a:t>Anticipatory Socialization: </a:t>
            </a:r>
            <a:r>
              <a:rPr lang="en-US" sz="2000" dirty="0">
                <a:latin typeface="Times New Roman" panose="02020603050405020304" pitchFamily="18" charset="0"/>
                <a:cs typeface="Times New Roman" panose="02020603050405020304" pitchFamily="18" charset="0"/>
              </a:rPr>
              <a:t>Anticipatory socialization is the process of changing one’s attitudes and behaviors in preparation for a shift in one’s role. In other words, anticipatory socialization refers to the process of adjustment and adaptation in which individuals try to learn and internalize the roles, values, attitudes and skills of a social status or occupation for which they are likely recruits in the future. Examples of anticipatory socialization include law school students learning how to behave like lawyers, older people preparing for retirement.</a:t>
            </a:r>
          </a:p>
          <a:p>
            <a:pPr marL="0" indent="0" algn="just">
              <a:buNone/>
            </a:pPr>
            <a:r>
              <a:rPr lang="en-US" sz="2000" b="1" dirty="0">
                <a:latin typeface="Times New Roman" panose="02020603050405020304" pitchFamily="18" charset="0"/>
                <a:cs typeface="Times New Roman" panose="02020603050405020304" pitchFamily="18" charset="0"/>
              </a:rPr>
              <a:t>Reverse Socialization </a:t>
            </a:r>
            <a:r>
              <a:rPr lang="en-US" sz="2000" dirty="0">
                <a:latin typeface="Times New Roman" panose="02020603050405020304" pitchFamily="18" charset="0"/>
                <a:cs typeface="Times New Roman" panose="02020603050405020304" pitchFamily="18" charset="0"/>
              </a:rPr>
              <a:t>Reverse socialization refers to the process of socialization whereby the dominant socializing persons, such as parents, happen to be in need of being socialized themselves by those whom they socialize, such as children. In reverse socialization, children, for example, may happen to socialize their parents in some roles, skills, and attitudes which the latter lack.</a:t>
            </a:r>
          </a:p>
        </p:txBody>
      </p:sp>
    </p:spTree>
    <p:extLst>
      <p:ext uri="{BB962C8B-B14F-4D97-AF65-F5344CB8AC3E}">
        <p14:creationId xmlns:p14="http://schemas.microsoft.com/office/powerpoint/2010/main" val="2379551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6374"/>
            <a:ext cx="10515600" cy="6033331"/>
          </a:xfrm>
        </p:spPr>
        <p:txBody>
          <a:bodyPr>
            <a:normAutofit lnSpcReduction="10000"/>
          </a:bodyPr>
          <a:lstStyle/>
          <a:p>
            <a:pPr marL="0" indent="0">
              <a:buNone/>
            </a:pPr>
            <a:r>
              <a:rPr lang="en-US" dirty="0"/>
              <a:t>			</a:t>
            </a:r>
            <a:r>
              <a:rPr lang="en-US" b="1" dirty="0">
                <a:latin typeface="Times New Roman" panose="02020603050405020304" pitchFamily="18" charset="0"/>
                <a:cs typeface="Times New Roman" panose="02020603050405020304" pitchFamily="18" charset="0"/>
              </a:rPr>
              <a:t>Agents of Socialization</a:t>
            </a:r>
          </a:p>
          <a:p>
            <a:pPr marL="0" indent="0">
              <a:buNone/>
            </a:pPr>
            <a:r>
              <a:rPr lang="en-US" sz="2000" b="1" dirty="0">
                <a:latin typeface="Times New Roman" panose="02020603050405020304" pitchFamily="18" charset="0"/>
                <a:cs typeface="Times New Roman" panose="02020603050405020304" pitchFamily="18" charset="0"/>
              </a:rPr>
              <a:t>Giddens (2006) </a:t>
            </a:r>
            <a:r>
              <a:rPr lang="en-US" sz="2000" dirty="0">
                <a:latin typeface="Times New Roman" panose="02020603050405020304" pitchFamily="18" charset="0"/>
                <a:cs typeface="Times New Roman" panose="02020603050405020304" pitchFamily="18" charset="0"/>
              </a:rPr>
              <a:t>says about four agents of socialization. There are-</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family</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Schools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Peer relationships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mass media</a:t>
            </a:r>
          </a:p>
          <a:p>
            <a:pPr marL="0" indent="0">
              <a:buNone/>
            </a:pPr>
            <a:r>
              <a:rPr lang="en-US" sz="2000" b="1" dirty="0">
                <a:latin typeface="Times New Roman" panose="02020603050405020304" pitchFamily="18" charset="0"/>
                <a:cs typeface="Times New Roman" panose="02020603050405020304" pitchFamily="18" charset="0"/>
              </a:rPr>
              <a:t>Other agencies-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Religious institution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Play ground</a:t>
            </a:r>
          </a:p>
          <a:p>
            <a:pPr>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Kingroup</a:t>
            </a:r>
            <a:r>
              <a:rPr lang="en-US" sz="2000" dirty="0">
                <a:latin typeface="Times New Roman" panose="02020603050405020304" pitchFamily="18" charset="0"/>
                <a:cs typeface="Times New Roman" panose="02020603050405020304" pitchFamily="18" charset="0"/>
              </a:rPr>
              <a:t> and neighbor</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State</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Market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Association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Work</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Ethnic background</a:t>
            </a:r>
          </a:p>
          <a:p>
            <a:pPr marL="0" indent="0">
              <a:buNone/>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34167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815</TotalTime>
  <Words>497</Words>
  <Application>Microsoft Office PowerPoint</Application>
  <PresentationFormat>Custom</PresentationFormat>
  <Paragraphs>39</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Ety Rani</dc:creator>
  <cp:lastModifiedBy>MITU</cp:lastModifiedBy>
  <cp:revision>49</cp:revision>
  <dcterms:created xsi:type="dcterms:W3CDTF">2021-01-09T07:27:09Z</dcterms:created>
  <dcterms:modified xsi:type="dcterms:W3CDTF">2025-09-05T18:44:07Z</dcterms:modified>
</cp:coreProperties>
</file>