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2" r:id="rId16"/>
    <p:sldId id="276" r:id="rId17"/>
    <p:sldId id="277"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2409D-F079-4538-A66C-664B5A6EDB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5745D0-9845-4263-9EBA-17DB1BF63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6F2D6B-4DB7-4461-ADA5-842D70B3F768}"/>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5" name="Footer Placeholder 4">
            <a:extLst>
              <a:ext uri="{FF2B5EF4-FFF2-40B4-BE49-F238E27FC236}">
                <a16:creationId xmlns:a16="http://schemas.microsoft.com/office/drawing/2014/main" id="{B235E754-BE81-48CA-B807-10A01A9B71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3CD86-16E4-49BE-A1EF-F66D1A9C6ED7}"/>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1318419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2755-FF34-4614-87AD-4D90174DB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70CC9A-B1F9-454D-86B8-DD68A99B7A2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7B5F77-133A-45CD-A25C-D8AB4D59F66B}"/>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5" name="Footer Placeholder 4">
            <a:extLst>
              <a:ext uri="{FF2B5EF4-FFF2-40B4-BE49-F238E27FC236}">
                <a16:creationId xmlns:a16="http://schemas.microsoft.com/office/drawing/2014/main" id="{F4829971-F31D-4C70-9B92-AB59651E73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2B6D01-6063-40DF-A3BB-36BB4D6C0C0B}"/>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2780937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E219-9805-4E64-A630-A58301F487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5631C6-2B63-4D92-88E2-BCD3AD0BEF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439FCA3-8F98-48E9-BB5C-CD878B173F4B}"/>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5" name="Footer Placeholder 4">
            <a:extLst>
              <a:ext uri="{FF2B5EF4-FFF2-40B4-BE49-F238E27FC236}">
                <a16:creationId xmlns:a16="http://schemas.microsoft.com/office/drawing/2014/main" id="{364C2496-5B89-4C85-818D-E90F33A496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41892-58E2-437C-AAEC-392F6A43C699}"/>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398243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E026-EF7C-4C2B-9341-3880AEB101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654983-4876-4EE7-AA7D-7FEA70D32A8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CF5908-90B6-4EB8-A1FD-0B447586319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9C54F6-1985-4ABF-A09E-1BF30D9713ED}"/>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6" name="Footer Placeholder 5">
            <a:extLst>
              <a:ext uri="{FF2B5EF4-FFF2-40B4-BE49-F238E27FC236}">
                <a16:creationId xmlns:a16="http://schemas.microsoft.com/office/drawing/2014/main" id="{3D13B1D1-C278-4F78-B667-4540BA37AD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E222C-4583-4E7F-BD40-E56BE47E3908}"/>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227809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D9F24-CA77-47DD-BD56-412F7AA055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1B45F7-EB43-4FB7-9F1C-CDE5BA5D0B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DD75876-F455-4C50-98EB-80578911BB3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F42117-FCC3-40E6-BF62-02529EDC4D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5540C17-F734-447D-939C-C1145C51A3B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F68963-8206-4228-A80C-6B61B6BCE632}"/>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8" name="Footer Placeholder 7">
            <a:extLst>
              <a:ext uri="{FF2B5EF4-FFF2-40B4-BE49-F238E27FC236}">
                <a16:creationId xmlns:a16="http://schemas.microsoft.com/office/drawing/2014/main" id="{A1F2DF3E-18C7-414A-9935-76D20B8CB7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CF3059-D18C-4FC5-8752-F8285C3456CB}"/>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1949856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13F4-0645-4126-9895-B51F1CC3D7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298D9E-FE7E-4C1E-AD9E-8CEE8DF04020}"/>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4" name="Footer Placeholder 3">
            <a:extLst>
              <a:ext uri="{FF2B5EF4-FFF2-40B4-BE49-F238E27FC236}">
                <a16:creationId xmlns:a16="http://schemas.microsoft.com/office/drawing/2014/main" id="{259D2DF0-7886-443C-948A-D153F1D1B6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9ED6B5-0344-4830-9FD3-3289F5535C47}"/>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134998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54F6B4-D3CA-4279-B8D7-B0F629678130}"/>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3" name="Footer Placeholder 2">
            <a:extLst>
              <a:ext uri="{FF2B5EF4-FFF2-40B4-BE49-F238E27FC236}">
                <a16:creationId xmlns:a16="http://schemas.microsoft.com/office/drawing/2014/main" id="{9CDD3372-5E3C-4D20-86E1-226D8E3CE6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66BADB-050C-47BF-A527-A4349529E5D0}"/>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2061699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12C21-ECF2-4D4F-AD01-A2769CD52C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6B61B6-26F0-4C89-BBEE-2423814B62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0DCCAD-0778-443B-AE3A-761AF2F62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E568FA9-DAA5-4450-8BFF-D568030C37E7}"/>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6" name="Footer Placeholder 5">
            <a:extLst>
              <a:ext uri="{FF2B5EF4-FFF2-40B4-BE49-F238E27FC236}">
                <a16:creationId xmlns:a16="http://schemas.microsoft.com/office/drawing/2014/main" id="{00F4B719-2FDC-40ED-9429-0FC7BC49B5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EAE10F-DA61-45DA-B3CB-7A146363CDD0}"/>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160557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C851D-8A1F-4E69-A1FC-B62F01877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98DF3B-3B38-4158-9DE5-EB96095C06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F59BD8-C2DB-41C9-A7FD-E050B3CCC8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3AE6A34-6478-47A8-9394-2E2C83A33448}"/>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6" name="Footer Placeholder 5">
            <a:extLst>
              <a:ext uri="{FF2B5EF4-FFF2-40B4-BE49-F238E27FC236}">
                <a16:creationId xmlns:a16="http://schemas.microsoft.com/office/drawing/2014/main" id="{ED7DB94E-FD95-469D-8A8D-A7897995D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ACB7B8-099F-4A26-B784-11E2EE18E251}"/>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3918590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89574-1DB4-470C-A1E2-BEA3687E77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9D0869-6CB7-48C7-848D-FE0991DF689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37DCF-EA1D-4818-82FA-A50C435B7A01}"/>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5" name="Footer Placeholder 4">
            <a:extLst>
              <a:ext uri="{FF2B5EF4-FFF2-40B4-BE49-F238E27FC236}">
                <a16:creationId xmlns:a16="http://schemas.microsoft.com/office/drawing/2014/main" id="{081A638F-C990-48E9-A0C5-A8E986A8C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18107-940D-4292-AD80-03F07C23EB3D}"/>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1234198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3E2CAA-36A3-46E5-A1CB-CB992EBE56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D5C92E-E6BA-4EA9-A8C8-9AA91AE301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E5A52-C744-4947-A968-80FFFFDC27A6}"/>
              </a:ext>
            </a:extLst>
          </p:cNvPr>
          <p:cNvSpPr>
            <a:spLocks noGrp="1"/>
          </p:cNvSpPr>
          <p:nvPr>
            <p:ph type="dt" sz="half" idx="10"/>
          </p:nvPr>
        </p:nvSpPr>
        <p:spPr/>
        <p:txBody>
          <a:bodyPr/>
          <a:lstStyle/>
          <a:p>
            <a:fld id="{149604D7-A618-483A-9D35-4C0EFB8E2A6F}" type="datetimeFigureOut">
              <a:rPr lang="en-US" smtClean="0"/>
              <a:t>2/27/2024</a:t>
            </a:fld>
            <a:endParaRPr lang="en-US"/>
          </a:p>
        </p:txBody>
      </p:sp>
      <p:sp>
        <p:nvSpPr>
          <p:cNvPr id="5" name="Footer Placeholder 4">
            <a:extLst>
              <a:ext uri="{FF2B5EF4-FFF2-40B4-BE49-F238E27FC236}">
                <a16:creationId xmlns:a16="http://schemas.microsoft.com/office/drawing/2014/main" id="{79388F3A-7F01-4A75-9555-462F55C54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E2003-83F0-49DA-BA9E-D9FD7AAAB852}"/>
              </a:ext>
            </a:extLst>
          </p:cNvPr>
          <p:cNvSpPr>
            <a:spLocks noGrp="1"/>
          </p:cNvSpPr>
          <p:nvPr>
            <p:ph type="sldNum" sz="quarter" idx="12"/>
          </p:nvPr>
        </p:nvSpPr>
        <p:spPr/>
        <p:txBody>
          <a:bodyPr/>
          <a:lstStyle/>
          <a:p>
            <a:fld id="{BEDCD4FD-2C23-4664-95D6-9384EF882D1B}" type="slidenum">
              <a:rPr lang="en-US" smtClean="0"/>
              <a:t>‹#›</a:t>
            </a:fld>
            <a:endParaRPr lang="en-US"/>
          </a:p>
        </p:txBody>
      </p:sp>
    </p:spTree>
    <p:extLst>
      <p:ext uri="{BB962C8B-B14F-4D97-AF65-F5344CB8AC3E}">
        <p14:creationId xmlns:p14="http://schemas.microsoft.com/office/powerpoint/2010/main" val="260008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1EBD22-2A22-428B-A383-ACC891EFB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78D4AA-4126-4172-BEB0-F41527B4F0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1D3839-7AA6-4434-8214-7B3B2BA32E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604D7-A618-483A-9D35-4C0EFB8E2A6F}" type="datetimeFigureOut">
              <a:rPr lang="en-US" smtClean="0"/>
              <a:t>2/27/2024</a:t>
            </a:fld>
            <a:endParaRPr lang="en-US"/>
          </a:p>
        </p:txBody>
      </p:sp>
      <p:sp>
        <p:nvSpPr>
          <p:cNvPr id="5" name="Footer Placeholder 4">
            <a:extLst>
              <a:ext uri="{FF2B5EF4-FFF2-40B4-BE49-F238E27FC236}">
                <a16:creationId xmlns:a16="http://schemas.microsoft.com/office/drawing/2014/main" id="{3536B786-824F-4217-B28A-533AA2A256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106B95-E3F0-44AC-B2F7-2AAE835B13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DCD4FD-2C23-4664-95D6-9384EF882D1B}" type="slidenum">
              <a:rPr lang="en-US" smtClean="0"/>
              <a:t>‹#›</a:t>
            </a:fld>
            <a:endParaRPr lang="en-US"/>
          </a:p>
        </p:txBody>
      </p:sp>
    </p:spTree>
    <p:extLst>
      <p:ext uri="{BB962C8B-B14F-4D97-AF65-F5344CB8AC3E}">
        <p14:creationId xmlns:p14="http://schemas.microsoft.com/office/powerpoint/2010/main" val="794424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6019-13D8-4CFF-8663-B4A95F7AB436}"/>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Social Structure in Global Perspective </a:t>
            </a:r>
          </a:p>
        </p:txBody>
      </p:sp>
      <p:sp>
        <p:nvSpPr>
          <p:cNvPr id="3" name="Subtitle 2">
            <a:extLst>
              <a:ext uri="{FF2B5EF4-FFF2-40B4-BE49-F238E27FC236}">
                <a16:creationId xmlns:a16="http://schemas.microsoft.com/office/drawing/2014/main" id="{79EA9B71-AA54-44E4-968E-D739B6EC6CDA}"/>
              </a:ext>
            </a:extLst>
          </p:cNvPr>
          <p:cNvSpPr>
            <a:spLocks noGrp="1"/>
          </p:cNvSpPr>
          <p:nvPr>
            <p:ph type="subTitle" idx="1"/>
          </p:nvPr>
        </p:nvSpPr>
        <p:spPr/>
        <p:txBody>
          <a:bodyPr>
            <a:normAutofit lnSpcReduction="10000"/>
          </a:bodyPr>
          <a:lstStyle/>
          <a:p>
            <a:r>
              <a:rPr lang="en-US" b="1" dirty="0" err="1">
                <a:latin typeface="Times New Roman" panose="02020603050405020304" pitchFamily="18" charset="0"/>
                <a:cs typeface="Times New Roman" panose="02020603050405020304" pitchFamily="18" charset="0"/>
              </a:rPr>
              <a:t>Ety</a:t>
            </a:r>
            <a:r>
              <a:rPr lang="en-US" b="1" dirty="0">
                <a:latin typeface="Times New Roman" panose="02020603050405020304" pitchFamily="18" charset="0"/>
                <a:cs typeface="Times New Roman" panose="02020603050405020304" pitchFamily="18" charset="0"/>
              </a:rPr>
              <a:t> Rani</a:t>
            </a:r>
          </a:p>
          <a:p>
            <a:r>
              <a:rPr lang="en-US" b="1" dirty="0">
                <a:latin typeface="Times New Roman" panose="02020603050405020304" pitchFamily="18" charset="0"/>
                <a:cs typeface="Times New Roman" panose="02020603050405020304" pitchFamily="18" charset="0"/>
              </a:rPr>
              <a:t>Assistant Professor</a:t>
            </a:r>
          </a:p>
          <a:p>
            <a:r>
              <a:rPr lang="en-US" b="1" dirty="0">
                <a:latin typeface="Times New Roman" panose="02020603050405020304" pitchFamily="18" charset="0"/>
                <a:cs typeface="Times New Roman" panose="02020603050405020304" pitchFamily="18" charset="0"/>
              </a:rPr>
              <a:t>Sociology discipline</a:t>
            </a:r>
          </a:p>
          <a:p>
            <a:r>
              <a:rPr lang="en-US" b="1" dirty="0">
                <a:latin typeface="Times New Roman" panose="02020603050405020304" pitchFamily="18" charset="0"/>
                <a:cs typeface="Times New Roman" panose="02020603050405020304" pitchFamily="18" charset="0"/>
              </a:rPr>
              <a:t> Khulna University</a:t>
            </a:r>
          </a:p>
          <a:p>
            <a:endParaRPr lang="en-US" dirty="0"/>
          </a:p>
        </p:txBody>
      </p:sp>
    </p:spTree>
    <p:extLst>
      <p:ext uri="{BB962C8B-B14F-4D97-AF65-F5344CB8AC3E}">
        <p14:creationId xmlns:p14="http://schemas.microsoft.com/office/powerpoint/2010/main" val="172339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61254-F0EA-46C3-B3DA-D68CB344473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Social Structure in Global Perspective (Book: R. T. Schaefer-Sociology, 2013:117-121)</a:t>
            </a:r>
            <a:endParaRPr lang="en-US" dirty="0"/>
          </a:p>
        </p:txBody>
      </p:sp>
      <p:sp>
        <p:nvSpPr>
          <p:cNvPr id="3" name="Content Placeholder 2">
            <a:extLst>
              <a:ext uri="{FF2B5EF4-FFF2-40B4-BE49-F238E27FC236}">
                <a16:creationId xmlns:a16="http://schemas.microsoft.com/office/drawing/2014/main" id="{38D71FEE-A8DA-4E68-AACF-078E3C2CC75F}"/>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Modern societies are complex, especially compared to earlier social arrangements. Sociologists Émile Durkheim, Ferdinand </a:t>
            </a:r>
            <a:r>
              <a:rPr lang="en-US" dirty="0" err="1">
                <a:latin typeface="Times New Roman" panose="02020603050405020304" pitchFamily="18" charset="0"/>
                <a:cs typeface="Times New Roman" panose="02020603050405020304" pitchFamily="18" charset="0"/>
              </a:rPr>
              <a:t>Tönnies</a:t>
            </a:r>
            <a:r>
              <a:rPr lang="en-US" dirty="0">
                <a:latin typeface="Times New Roman" panose="02020603050405020304" pitchFamily="18" charset="0"/>
                <a:cs typeface="Times New Roman" panose="02020603050405020304" pitchFamily="18" charset="0"/>
              </a:rPr>
              <a:t>, and Gerhard Lenski developed ways to contrast modern societies with simpler forms of social structure. </a:t>
            </a:r>
          </a:p>
          <a:p>
            <a:pPr marL="0" indent="0" algn="ctr">
              <a:buNone/>
            </a:pPr>
            <a:r>
              <a:rPr lang="en-US" b="1" dirty="0">
                <a:latin typeface="Times New Roman" panose="02020603050405020304" pitchFamily="18" charset="0"/>
                <a:cs typeface="Times New Roman" panose="02020603050405020304" pitchFamily="18" charset="0"/>
              </a:rPr>
              <a:t>Émile Durkheim’s Mechanical and Organic Solidarity </a:t>
            </a:r>
          </a:p>
          <a:p>
            <a:pPr algn="just"/>
            <a:r>
              <a:rPr lang="en-US" dirty="0">
                <a:latin typeface="Times New Roman" panose="02020603050405020304" pitchFamily="18" charset="0"/>
                <a:cs typeface="Times New Roman" panose="02020603050405020304" pitchFamily="18" charset="0"/>
              </a:rPr>
              <a:t>In his Division of Labor ([1893] 1933), Durkheim argued that social structure depends on the division of labor in a society—in other words, on the manner in which tasks are performed. </a:t>
            </a:r>
          </a:p>
        </p:txBody>
      </p:sp>
    </p:spTree>
    <p:extLst>
      <p:ext uri="{BB962C8B-B14F-4D97-AF65-F5344CB8AC3E}">
        <p14:creationId xmlns:p14="http://schemas.microsoft.com/office/powerpoint/2010/main" val="2970162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98065-6D24-4D4C-A908-BF8D4B32AE10}"/>
              </a:ext>
            </a:extLst>
          </p:cNvPr>
          <p:cNvSpPr>
            <a:spLocks noGrp="1"/>
          </p:cNvSpPr>
          <p:nvPr>
            <p:ph type="title"/>
          </p:nvPr>
        </p:nvSpPr>
        <p:spPr>
          <a:xfrm>
            <a:off x="838200" y="266331"/>
            <a:ext cx="10515600" cy="648069"/>
          </a:xfrm>
        </p:spPr>
        <p:txBody>
          <a:bodyPr>
            <a:normAutofit/>
          </a:bodyPr>
          <a:lstStyle/>
          <a:p>
            <a:r>
              <a:rPr lang="en-US" sz="4000" dirty="0">
                <a:latin typeface="Times New Roman" panose="02020603050405020304" pitchFamily="18" charset="0"/>
                <a:cs typeface="Times New Roman" panose="02020603050405020304" pitchFamily="18" charset="0"/>
              </a:rPr>
              <a:t>Social Structure in Global Perspective (continue)</a:t>
            </a:r>
            <a:endParaRPr lang="en-US" sz="4000" dirty="0"/>
          </a:p>
        </p:txBody>
      </p:sp>
      <p:sp>
        <p:nvSpPr>
          <p:cNvPr id="3" name="Content Placeholder 2">
            <a:extLst>
              <a:ext uri="{FF2B5EF4-FFF2-40B4-BE49-F238E27FC236}">
                <a16:creationId xmlns:a16="http://schemas.microsoft.com/office/drawing/2014/main" id="{045AB54B-5240-4A2B-81E8-CE8CA615B2C4}"/>
              </a:ext>
            </a:extLst>
          </p:cNvPr>
          <p:cNvSpPr>
            <a:spLocks noGrp="1"/>
          </p:cNvSpPr>
          <p:nvPr>
            <p:ph idx="1"/>
          </p:nvPr>
        </p:nvSpPr>
        <p:spPr>
          <a:xfrm>
            <a:off x="838200" y="1091953"/>
            <a:ext cx="10515600" cy="5085010"/>
          </a:xfrm>
        </p:spPr>
        <p:txBody>
          <a:bodyPr>
            <a:normAutofit fontScale="92500" lnSpcReduction="20000"/>
          </a:bodyPr>
          <a:lstStyle/>
          <a:p>
            <a:pPr marL="0" indent="0" algn="just">
              <a:buNone/>
            </a:pPr>
            <a:r>
              <a:rPr lang="en-US" b="1" dirty="0">
                <a:latin typeface="Times New Roman" panose="02020603050405020304" pitchFamily="18" charset="0"/>
                <a:cs typeface="Times New Roman" panose="02020603050405020304" pitchFamily="18" charset="0"/>
              </a:rPr>
              <a:t>Mechanical solidarity</a:t>
            </a:r>
          </a:p>
          <a:p>
            <a:pPr algn="just"/>
            <a:r>
              <a:rPr lang="en-US" dirty="0">
                <a:latin typeface="Times New Roman" panose="02020603050405020304" pitchFamily="18" charset="0"/>
                <a:cs typeface="Times New Roman" panose="02020603050405020304" pitchFamily="18" charset="0"/>
              </a:rPr>
              <a:t>The latter pattern is typical of modern societies, in which the cultivation, processing, distribution, and retailing of a single food item are performed by literally hundreds of people. In societies in which there is </a:t>
            </a:r>
            <a:r>
              <a:rPr lang="en-US" b="1" dirty="0">
                <a:latin typeface="Times New Roman" panose="02020603050405020304" pitchFamily="18" charset="0"/>
                <a:cs typeface="Times New Roman" panose="02020603050405020304" pitchFamily="18" charset="0"/>
              </a:rPr>
              <a:t>minimal division of labor, a collective consciousness </a:t>
            </a:r>
            <a:r>
              <a:rPr lang="en-US" dirty="0">
                <a:latin typeface="Times New Roman" panose="02020603050405020304" pitchFamily="18" charset="0"/>
                <a:cs typeface="Times New Roman" panose="02020603050405020304" pitchFamily="18" charset="0"/>
              </a:rPr>
              <a:t>develops that emphasizes group solidarity.</a:t>
            </a:r>
          </a:p>
          <a:p>
            <a:pPr algn="just"/>
            <a:r>
              <a:rPr lang="en-US" dirty="0">
                <a:latin typeface="Times New Roman" panose="02020603050405020304" pitchFamily="18" charset="0"/>
                <a:cs typeface="Times New Roman" panose="02020603050405020304" pitchFamily="18" charset="0"/>
              </a:rPr>
              <a:t> Durkheim termed this collective frame of mind mechanical solidarity , implying that all individuals perform the same tasks. In this type of society, no one needs to ask, “What do your parents do?” since all are engaged in similar work. Each person prepares food, hunts, makes clothing, builds homes, and so forth. Because people have few options regarding what to do with their lives, there is little concern for individual needs. Instead, the group is the dominating force in society. </a:t>
            </a:r>
          </a:p>
          <a:p>
            <a:pPr algn="just"/>
            <a:r>
              <a:rPr lang="en-US" dirty="0">
                <a:latin typeface="Times New Roman" panose="02020603050405020304" pitchFamily="18" charset="0"/>
                <a:cs typeface="Times New Roman" panose="02020603050405020304" pitchFamily="18" charset="0"/>
              </a:rPr>
              <a:t>Both social interaction and negotiation are based on close, intimate, face-to-face social contacts. Since there is little specialization, there are few social roles. </a:t>
            </a:r>
          </a:p>
        </p:txBody>
      </p:sp>
    </p:spTree>
    <p:extLst>
      <p:ext uri="{BB962C8B-B14F-4D97-AF65-F5344CB8AC3E}">
        <p14:creationId xmlns:p14="http://schemas.microsoft.com/office/powerpoint/2010/main" val="28119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A9129-E139-44D5-89D3-2A9692452957}"/>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93C51368-9A9D-4139-9A58-8425AFDE086A}"/>
              </a:ext>
            </a:extLst>
          </p:cNvPr>
          <p:cNvSpPr>
            <a:spLocks noGrp="1"/>
          </p:cNvSpPr>
          <p:nvPr>
            <p:ph idx="1"/>
          </p:nvPr>
        </p:nvSpPr>
        <p:spPr/>
        <p:txBody>
          <a:bodyPr/>
          <a:lstStyle/>
          <a:p>
            <a:pPr marL="0" indent="0" algn="just">
              <a:buNone/>
            </a:pPr>
            <a:r>
              <a:rPr lang="en-US" b="1" dirty="0">
                <a:latin typeface="Times New Roman" panose="02020603050405020304" pitchFamily="18" charset="0"/>
                <a:cs typeface="Times New Roman" panose="02020603050405020304" pitchFamily="18" charset="0"/>
              </a:rPr>
              <a:t>Organic solidarity</a:t>
            </a:r>
          </a:p>
          <a:p>
            <a:pPr algn="just"/>
            <a:r>
              <a:rPr lang="en-US" dirty="0">
                <a:latin typeface="Times New Roman" panose="02020603050405020304" pitchFamily="18" charset="0"/>
                <a:cs typeface="Times New Roman" panose="02020603050405020304" pitchFamily="18" charset="0"/>
              </a:rPr>
              <a:t>As societies become more advanced technologically, they rely on greater division of labor, so that no individual can go it alone. Dependence on others becomes essential for group survival.</a:t>
            </a:r>
          </a:p>
          <a:p>
            <a:pPr algn="just"/>
            <a:r>
              <a:rPr lang="en-US" dirty="0">
                <a:latin typeface="Times New Roman" panose="02020603050405020304" pitchFamily="18" charset="0"/>
                <a:cs typeface="Times New Roman" panose="02020603050405020304" pitchFamily="18" charset="0"/>
              </a:rPr>
              <a:t> In Durkheim’s terms, mechanical solidarity is replaced by organic solidarity , a collective consciousness resting on the need a society’s members have for one another. Durkheim chose the term organic solidarity because in his view, individuals become interdependent in much the same way as organs of the human body.</a:t>
            </a:r>
          </a:p>
        </p:txBody>
      </p:sp>
    </p:spTree>
    <p:extLst>
      <p:ext uri="{BB962C8B-B14F-4D97-AF65-F5344CB8AC3E}">
        <p14:creationId xmlns:p14="http://schemas.microsoft.com/office/powerpoint/2010/main" val="1092696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CFB08-3AC5-4C29-A287-D0B76946EA35}"/>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C8359E10-578F-4726-9536-0B2ED094BAE7}"/>
              </a:ext>
            </a:extLst>
          </p:cNvPr>
          <p:cNvSpPr>
            <a:spLocks noGrp="1"/>
          </p:cNvSpPr>
          <p:nvPr>
            <p:ph idx="1"/>
          </p:nvPr>
        </p:nvSpPr>
        <p:spPr/>
        <p:txBody>
          <a:bodyPr>
            <a:normAutofit fontScale="92500" lnSpcReduction="20000"/>
          </a:bodyPr>
          <a:lstStyle/>
          <a:p>
            <a:pPr marL="0" indent="0" algn="ctr">
              <a:buNone/>
            </a:pPr>
            <a:r>
              <a:rPr lang="en-US" b="1" dirty="0">
                <a:latin typeface="Times New Roman" panose="02020603050405020304" pitchFamily="18" charset="0"/>
                <a:cs typeface="Times New Roman" panose="02020603050405020304" pitchFamily="18" charset="0"/>
              </a:rPr>
              <a:t>Ferdinand </a:t>
            </a:r>
            <a:r>
              <a:rPr lang="en-US" b="1" dirty="0" err="1">
                <a:latin typeface="Times New Roman" panose="02020603050405020304" pitchFamily="18" charset="0"/>
                <a:cs typeface="Times New Roman" panose="02020603050405020304" pitchFamily="18" charset="0"/>
              </a:rPr>
              <a:t>Tönnies’s</a:t>
            </a:r>
            <a:r>
              <a:rPr lang="en-US" b="1" dirty="0">
                <a:latin typeface="Times New Roman" panose="02020603050405020304" pitchFamily="18" charset="0"/>
                <a:cs typeface="Times New Roman" panose="02020603050405020304" pitchFamily="18" charset="0"/>
              </a:rPr>
              <a:t> Gemeinschaft and Gesellschaft </a:t>
            </a:r>
          </a:p>
          <a:p>
            <a:pPr algn="just"/>
            <a:r>
              <a:rPr lang="en-US" dirty="0">
                <a:latin typeface="Times New Roman" panose="02020603050405020304" pitchFamily="18" charset="0"/>
                <a:cs typeface="Times New Roman" panose="02020603050405020304" pitchFamily="18" charset="0"/>
              </a:rPr>
              <a:t>Ferdinand </a:t>
            </a:r>
            <a:r>
              <a:rPr lang="en-US" dirty="0" err="1">
                <a:latin typeface="Times New Roman" panose="02020603050405020304" pitchFamily="18" charset="0"/>
                <a:cs typeface="Times New Roman" panose="02020603050405020304" pitchFamily="18" charset="0"/>
              </a:rPr>
              <a:t>Tönnies</a:t>
            </a:r>
            <a:r>
              <a:rPr lang="en-US" dirty="0">
                <a:latin typeface="Times New Roman" panose="02020603050405020304" pitchFamily="18" charset="0"/>
                <a:cs typeface="Times New Roman" panose="02020603050405020304" pitchFamily="18" charset="0"/>
              </a:rPr>
              <a:t> (1855–1936) was appalled by the rise of an industrial city in his native Germany during the late 1800s. In his view, the city marked a dramatic change from the ideal of a close-knit community, which </a:t>
            </a:r>
            <a:r>
              <a:rPr lang="en-US" dirty="0" err="1">
                <a:latin typeface="Times New Roman" panose="02020603050405020304" pitchFamily="18" charset="0"/>
                <a:cs typeface="Times New Roman" panose="02020603050405020304" pitchFamily="18" charset="0"/>
              </a:rPr>
              <a:t>Tönnies</a:t>
            </a:r>
            <a:r>
              <a:rPr lang="en-US" dirty="0">
                <a:latin typeface="Times New Roman" panose="02020603050405020304" pitchFamily="18" charset="0"/>
                <a:cs typeface="Times New Roman" panose="02020603050405020304" pitchFamily="18" charset="0"/>
              </a:rPr>
              <a:t> termed a </a:t>
            </a:r>
            <a:r>
              <a:rPr lang="en-US" b="1" dirty="0">
                <a:latin typeface="Times New Roman" panose="02020603050405020304" pitchFamily="18" charset="0"/>
                <a:cs typeface="Times New Roman" panose="02020603050405020304" pitchFamily="18" charset="0"/>
              </a:rPr>
              <a:t>Gemeinschaft, </a:t>
            </a:r>
            <a:r>
              <a:rPr lang="en-US" dirty="0">
                <a:latin typeface="Times New Roman" panose="02020603050405020304" pitchFamily="18" charset="0"/>
                <a:cs typeface="Times New Roman" panose="02020603050405020304" pitchFamily="18" charset="0"/>
              </a:rPr>
              <a:t>to that of an impersonal mass society, known as a </a:t>
            </a:r>
            <a:r>
              <a:rPr lang="en-US" b="1" dirty="0">
                <a:latin typeface="Times New Roman" panose="02020603050405020304" pitchFamily="18" charset="0"/>
                <a:cs typeface="Times New Roman" panose="02020603050405020304" pitchFamily="18" charset="0"/>
              </a:rPr>
              <a:t>Gesellschaft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Tönnies</a:t>
            </a:r>
            <a:r>
              <a:rPr lang="en-US" dirty="0">
                <a:latin typeface="Times New Roman" panose="02020603050405020304" pitchFamily="18" charset="0"/>
                <a:cs typeface="Times New Roman" panose="02020603050405020304" pitchFamily="18" charset="0"/>
              </a:rPr>
              <a:t> [1887] 1988).</a:t>
            </a:r>
          </a:p>
          <a:p>
            <a:pPr algn="just"/>
            <a:r>
              <a:rPr lang="en-US" dirty="0">
                <a:latin typeface="Times New Roman" panose="02020603050405020304" pitchFamily="18" charset="0"/>
                <a:cs typeface="Times New Roman" panose="02020603050405020304" pitchFamily="18" charset="0"/>
              </a:rPr>
              <a:t> The</a:t>
            </a:r>
            <a:r>
              <a:rPr lang="en-US" b="1" dirty="0">
                <a:latin typeface="Times New Roman" panose="02020603050405020304" pitchFamily="18" charset="0"/>
                <a:cs typeface="Times New Roman" panose="02020603050405020304" pitchFamily="18" charset="0"/>
              </a:rPr>
              <a:t> Gemeinschaft </a:t>
            </a:r>
            <a:r>
              <a:rPr lang="en-US" dirty="0">
                <a:latin typeface="Times New Roman" panose="02020603050405020304" pitchFamily="18" charset="0"/>
                <a:cs typeface="Times New Roman" panose="02020603050405020304" pitchFamily="18" charset="0"/>
              </a:rPr>
              <a:t>is typical of rural life. It is a small community in which people have similar backgrounds and life experiences. Virtually everyone knows one another, and social interactions are intimate and familiar, almost as among kinfolk. In this community there is a commitment to the larger social group and a sense of togetherness among members. People relate to others in a personal way, not just as “clerk” or “manager.” With this personal interaction comes little privacy, however: we know too much about everyone.</a:t>
            </a:r>
          </a:p>
        </p:txBody>
      </p:sp>
    </p:spTree>
    <p:extLst>
      <p:ext uri="{BB962C8B-B14F-4D97-AF65-F5344CB8AC3E}">
        <p14:creationId xmlns:p14="http://schemas.microsoft.com/office/powerpoint/2010/main" val="502351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6186-42CA-40A9-AF2B-B54A05BF2833}"/>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F90D2AE2-7027-48F0-A0CD-128043004C3C}"/>
              </a:ext>
            </a:extLst>
          </p:cNvPr>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Social control in the Gemeinschaft is maintained through informal means such as moral persuasion, gossip, and even gestures. These techniques work effectively because people genuinely care how others feel about them. Social change is relatively limited in the Gemeinschaft; the lives of members of one generation may be quite similar to those of their grandparents. </a:t>
            </a:r>
          </a:p>
          <a:p>
            <a:pPr algn="just"/>
            <a:r>
              <a:rPr lang="en-US" b="1" dirty="0">
                <a:latin typeface="Times New Roman" panose="02020603050405020304" pitchFamily="18" charset="0"/>
                <a:cs typeface="Times New Roman" panose="02020603050405020304" pitchFamily="18" charset="0"/>
              </a:rPr>
              <a:t>In contrast, the Gesellschaft </a:t>
            </a:r>
            <a:r>
              <a:rPr lang="en-US" dirty="0">
                <a:latin typeface="Times New Roman" panose="02020603050405020304" pitchFamily="18" charset="0"/>
                <a:cs typeface="Times New Roman" panose="02020603050405020304" pitchFamily="18" charset="0"/>
              </a:rPr>
              <a:t>is an ideal community that is characteristic of modern urban life. In this community, most people are strangers who feel little in common with other residents. Relationships are governed by social roles that grow out of immediate tasks, such as purchasing a product or arranging a business meeting. Self-interest dominates, and there is little consensus concerning values or commitment to the group. As a result, social control must rest on more formal techniques, such as laws and legally defined punishments. Social change is an important aspect of life in the Gesellschaft; it can be strikingly evident even within a single generation. </a:t>
            </a:r>
          </a:p>
        </p:txBody>
      </p:sp>
    </p:spTree>
    <p:extLst>
      <p:ext uri="{BB962C8B-B14F-4D97-AF65-F5344CB8AC3E}">
        <p14:creationId xmlns:p14="http://schemas.microsoft.com/office/powerpoint/2010/main" val="3798850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84ED0-A2BB-4985-BF61-0AE9FCAF70CE}"/>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C01F76F7-5427-405E-AE8E-D2EEEA0DD598}"/>
              </a:ext>
            </a:extLst>
          </p:cNvPr>
          <p:cNvSpPr>
            <a:spLocks noGrp="1"/>
          </p:cNvSpPr>
          <p:nvPr>
            <p:ph idx="1"/>
          </p:nvPr>
        </p:nvSpPr>
        <p:spPr/>
        <p:txBody>
          <a:bodyPr>
            <a:normAutofit fontScale="77500" lnSpcReduction="20000"/>
          </a:bodyPr>
          <a:lstStyle/>
          <a:p>
            <a:pPr marL="0" indent="0" algn="ctr">
              <a:buNone/>
            </a:pPr>
            <a:r>
              <a:rPr lang="en-US" b="1" dirty="0">
                <a:latin typeface="Times New Roman" panose="02020603050405020304" pitchFamily="18" charset="0"/>
                <a:cs typeface="Times New Roman" panose="02020603050405020304" pitchFamily="18" charset="0"/>
              </a:rPr>
              <a:t>Lenski’s Sociocultural Evolution Approach </a:t>
            </a:r>
          </a:p>
          <a:p>
            <a:pPr algn="just"/>
            <a:r>
              <a:rPr lang="en-US" dirty="0">
                <a:latin typeface="Times New Roman" panose="02020603050405020304" pitchFamily="18" charset="0"/>
                <a:cs typeface="Times New Roman" panose="02020603050405020304" pitchFamily="18" charset="0"/>
              </a:rPr>
              <a:t>Sociologist Gerhard Lenski takes a very different view of society and social structure. Rather than distinguishing between two opposite types of society, as </a:t>
            </a:r>
            <a:r>
              <a:rPr lang="en-US" dirty="0" err="1">
                <a:latin typeface="Times New Roman" panose="02020603050405020304" pitchFamily="18" charset="0"/>
                <a:cs typeface="Times New Roman" panose="02020603050405020304" pitchFamily="18" charset="0"/>
              </a:rPr>
              <a:t>Tönnies</a:t>
            </a:r>
            <a:r>
              <a:rPr lang="en-US" dirty="0">
                <a:latin typeface="Times New Roman" panose="02020603050405020304" pitchFamily="18" charset="0"/>
                <a:cs typeface="Times New Roman" panose="02020603050405020304" pitchFamily="18" charset="0"/>
              </a:rPr>
              <a:t> did, Lenski sees human societies as undergoing a process of change characterized by a dominant pattern known as sociocultural evolution . This term refers to long-term social trends resulting from the interplay of continuity, innovation, and selection (Nolan and Lenski 2009:361). </a:t>
            </a:r>
          </a:p>
          <a:p>
            <a:pPr algn="just"/>
            <a:r>
              <a:rPr lang="en-US" dirty="0">
                <a:latin typeface="Times New Roman" panose="02020603050405020304" pitchFamily="18" charset="0"/>
                <a:cs typeface="Times New Roman" panose="02020603050405020304" pitchFamily="18" charset="0"/>
              </a:rPr>
              <a:t>In Lenski’s view, a society’s level of technology is critical to the way it is organized. Lenski defines technology as “cultural information about the ways in which the material resources of the environment may be used to satisfy human needs and desires” (Nolan and Lenski 2009:357). The available technology does not completely define the form that a particular society and its social structure take. Nevertheless, a low level of technology may limit the degree to which a society can depend on such things as irrigation or complex machinery. </a:t>
            </a:r>
            <a:r>
              <a:rPr lang="en-US" b="1" dirty="0">
                <a:latin typeface="Times New Roman" panose="02020603050405020304" pitchFamily="18" charset="0"/>
                <a:cs typeface="Times New Roman" panose="02020603050405020304" pitchFamily="18" charset="0"/>
              </a:rPr>
              <a:t>As technology advances, Lenski writes, a community evolves from a preindustrial to an industrial and finally a postindustrial society.</a:t>
            </a:r>
          </a:p>
        </p:txBody>
      </p:sp>
    </p:spTree>
    <p:extLst>
      <p:ext uri="{BB962C8B-B14F-4D97-AF65-F5344CB8AC3E}">
        <p14:creationId xmlns:p14="http://schemas.microsoft.com/office/powerpoint/2010/main" val="3178365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11D90-90A4-4BBE-BA27-FB074EB2CF31}"/>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18CB606F-A02F-465C-882F-757188A2971F}"/>
              </a:ext>
            </a:extLst>
          </p:cNvPr>
          <p:cNvSpPr>
            <a:spLocks noGrp="1"/>
          </p:cNvSpPr>
          <p:nvPr>
            <p:ph idx="1"/>
          </p:nvPr>
        </p:nvSpPr>
        <p:spPr/>
        <p:txBody>
          <a:bodyPr>
            <a:normAutofit fontScale="92500" lnSpcReduction="20000"/>
          </a:bodyPr>
          <a:lstStyle/>
          <a:p>
            <a:pPr algn="just"/>
            <a:r>
              <a:rPr lang="en-US" sz="3900" b="1" dirty="0">
                <a:latin typeface="Times New Roman" panose="02020603050405020304" pitchFamily="18" charset="0"/>
                <a:cs typeface="Times New Roman" panose="02020603050405020304" pitchFamily="18" charset="0"/>
              </a:rPr>
              <a:t>Preindustrial Societies </a:t>
            </a:r>
            <a:r>
              <a:rPr lang="en-US" dirty="0">
                <a:latin typeface="Times New Roman" panose="02020603050405020304" pitchFamily="18" charset="0"/>
                <a:cs typeface="Times New Roman" panose="02020603050405020304" pitchFamily="18" charset="0"/>
              </a:rPr>
              <a:t>How does a preindustrial society organize its economy? If we know that, we can categorize the society. The first type of preindustrial society to emerge in human history was </a:t>
            </a:r>
            <a:r>
              <a:rPr lang="en-US" b="1" dirty="0">
                <a:latin typeface="Times New Roman" panose="02020603050405020304" pitchFamily="18" charset="0"/>
                <a:cs typeface="Times New Roman" panose="02020603050405020304" pitchFamily="18" charset="0"/>
              </a:rPr>
              <a:t>the hunting-and-gathering society</a:t>
            </a:r>
            <a:r>
              <a:rPr lang="en-US" dirty="0">
                <a:latin typeface="Times New Roman" panose="02020603050405020304" pitchFamily="18" charset="0"/>
                <a:cs typeface="Times New Roman" panose="02020603050405020304" pitchFamily="18" charset="0"/>
              </a:rPr>
              <a:t> , in which people simply rely on whatever foods and fibers are readily available. Technology in such societies is minimal. Organized into groups, people move constantly in search of food. There is little division of labor into specialized tasks. </a:t>
            </a:r>
          </a:p>
          <a:p>
            <a:pPr algn="just"/>
            <a:r>
              <a:rPr lang="en-US" dirty="0">
                <a:latin typeface="Times New Roman" panose="02020603050405020304" pitchFamily="18" charset="0"/>
                <a:cs typeface="Times New Roman" panose="02020603050405020304" pitchFamily="18" charset="0"/>
              </a:rPr>
              <a:t>Hunting-and-gathering societies are composed of small, widely dispersed groups. Each group consists almost entirely of people who are related to one another. As a result, kinship ties are the source of authority and influence, and the social institution of the family takes on a particularly important role. </a:t>
            </a:r>
            <a:r>
              <a:rPr lang="en-US" dirty="0" err="1">
                <a:latin typeface="Times New Roman" panose="02020603050405020304" pitchFamily="18" charset="0"/>
                <a:cs typeface="Times New Roman" panose="02020603050405020304" pitchFamily="18" charset="0"/>
              </a:rPr>
              <a:t>Tönnies</a:t>
            </a:r>
            <a:r>
              <a:rPr lang="en-US" dirty="0">
                <a:latin typeface="Times New Roman" panose="02020603050405020304" pitchFamily="18" charset="0"/>
                <a:cs typeface="Times New Roman" panose="02020603050405020304" pitchFamily="18" charset="0"/>
              </a:rPr>
              <a:t> would certainly view such societies as examples of the Gemeinschaft.</a:t>
            </a:r>
          </a:p>
        </p:txBody>
      </p:sp>
    </p:spTree>
    <p:extLst>
      <p:ext uri="{BB962C8B-B14F-4D97-AF65-F5344CB8AC3E}">
        <p14:creationId xmlns:p14="http://schemas.microsoft.com/office/powerpoint/2010/main" val="385130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6D13-4D5B-4B20-8A0C-8E9164FBC2D2}"/>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DD3B1EBD-0D95-43E9-B8BC-5C2E76D5F259}"/>
              </a:ext>
            </a:extLst>
          </p:cNvPr>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Social differentiation within the hunting-and-gathering society is based on ascribed statuses such as gender, age, and family background. Since resources are scarce, there is relatively little inequality in terms of material goods. By the close of the 20th century, hunting-and-gathering societies had virtually disappeared (Nolan and Lenski 2009). </a:t>
            </a:r>
          </a:p>
          <a:p>
            <a:pPr algn="just"/>
            <a:r>
              <a:rPr lang="en-US" b="1" dirty="0">
                <a:latin typeface="Times New Roman" panose="02020603050405020304" pitchFamily="18" charset="0"/>
                <a:cs typeface="Times New Roman" panose="02020603050405020304" pitchFamily="18" charset="0"/>
              </a:rPr>
              <a:t>Horticultural societies, </a:t>
            </a:r>
            <a:r>
              <a:rPr lang="en-US" dirty="0">
                <a:latin typeface="Times New Roman" panose="02020603050405020304" pitchFamily="18" charset="0"/>
                <a:cs typeface="Times New Roman" panose="02020603050405020304" pitchFamily="18" charset="0"/>
              </a:rPr>
              <a:t>in which people plant seeds and crops rather than merely subsist on available foods, emerged about 12,000 years ago. Members of horticultural societies are much less nomadic than hunters and gatherers. They place greater emphasis on the production of tools and household objects. Yet technology remains rather limited in these societies, whose members cultivate crops with the aid of digging sticks or hoes (Wilford 1997). </a:t>
            </a:r>
          </a:p>
        </p:txBody>
      </p:sp>
    </p:spTree>
    <p:extLst>
      <p:ext uri="{BB962C8B-B14F-4D97-AF65-F5344CB8AC3E}">
        <p14:creationId xmlns:p14="http://schemas.microsoft.com/office/powerpoint/2010/main" val="95761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721A7-E9C0-4113-B94B-1C88A887A0B3}"/>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3090590C-B945-4392-88EC-B4F89B606A18}"/>
              </a:ext>
            </a:extLst>
          </p:cNvPr>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The last stage of </a:t>
            </a:r>
            <a:r>
              <a:rPr lang="en-US" b="1" dirty="0">
                <a:latin typeface="Times New Roman" panose="02020603050405020304" pitchFamily="18" charset="0"/>
                <a:cs typeface="Times New Roman" panose="02020603050405020304" pitchFamily="18" charset="0"/>
              </a:rPr>
              <a:t>preindustrial development is the agrarian society, </a:t>
            </a:r>
            <a:r>
              <a:rPr lang="en-US" dirty="0">
                <a:latin typeface="Times New Roman" panose="02020603050405020304" pitchFamily="18" charset="0"/>
                <a:cs typeface="Times New Roman" panose="02020603050405020304" pitchFamily="18" charset="0"/>
              </a:rPr>
              <a:t>which emerged about 5,000 years ago. As in horticultural societies, members of agrarian societies engage primarily in the production of food. However, technological innovations such as the plow allow farmers to dramatically increase their crop yields. They can cultivate the same fields over generations, allowing the emergence of larger settlements. The agrarian society continues to rely on the physical power of humans and animals (as opposed to mechanical power).</a:t>
            </a:r>
          </a:p>
          <a:p>
            <a:pPr algn="just"/>
            <a:r>
              <a:rPr lang="en-US" dirty="0">
                <a:latin typeface="Times New Roman" panose="02020603050405020304" pitchFamily="18" charset="0"/>
                <a:cs typeface="Times New Roman" panose="02020603050405020304" pitchFamily="18" charset="0"/>
              </a:rPr>
              <a:t> Nevertheless, its social structure has more carefully defined roles than that of horticultural societies. Individuals focus on specialized tasks, such as the repair of fishing nets or blacksmithing. As human settlements become more established and stable, social institutions become more elaborate and property rights more important.</a:t>
            </a:r>
          </a:p>
          <a:p>
            <a:pPr algn="just"/>
            <a:r>
              <a:rPr lang="en-US" dirty="0">
                <a:latin typeface="Times New Roman" panose="02020603050405020304" pitchFamily="18" charset="0"/>
                <a:cs typeface="Times New Roman" panose="02020603050405020304" pitchFamily="18" charset="0"/>
              </a:rPr>
              <a:t> The comparative permanence and greater surpluses of an agrarian society allow members to create artifacts such as statues, public monuments, and art objects and to pass them on from one generation to the next.</a:t>
            </a:r>
          </a:p>
        </p:txBody>
      </p:sp>
    </p:spTree>
    <p:extLst>
      <p:ext uri="{BB962C8B-B14F-4D97-AF65-F5344CB8AC3E}">
        <p14:creationId xmlns:p14="http://schemas.microsoft.com/office/powerpoint/2010/main" val="3095486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2F99-CC66-4A2E-9B82-0B27C6D168B6}"/>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D5C19FF7-D694-4039-A4C5-ECE0B31FAFA9}"/>
              </a:ext>
            </a:extLst>
          </p:cNvPr>
          <p:cNvSpPr>
            <a:spLocks noGrp="1"/>
          </p:cNvSpPr>
          <p:nvPr>
            <p:ph idx="1"/>
          </p:nvPr>
        </p:nvSpPr>
        <p:spPr/>
        <p:txBody>
          <a:bodyPr/>
          <a:lstStyle/>
          <a:p>
            <a:pPr algn="just"/>
            <a:r>
              <a:rPr lang="en-US" sz="4000" dirty="0">
                <a:latin typeface="Times New Roman" panose="02020603050405020304" pitchFamily="18" charset="0"/>
                <a:cs typeface="Times New Roman" panose="02020603050405020304" pitchFamily="18" charset="0"/>
              </a:rPr>
              <a:t>Industrial Societies </a:t>
            </a:r>
            <a:r>
              <a:rPr lang="en-US" dirty="0">
                <a:latin typeface="Times New Roman" panose="02020603050405020304" pitchFamily="18" charset="0"/>
                <a:cs typeface="Times New Roman" panose="02020603050405020304" pitchFamily="18" charset="0"/>
              </a:rPr>
              <a:t>The Industrial Revolution, which took place largely in England during the period 1760 to 1830, was a scientific revolution focused on the application of nonanimal (mechanical) sources of power to labor tasks. </a:t>
            </a:r>
          </a:p>
          <a:p>
            <a:pPr algn="just"/>
            <a:r>
              <a:rPr lang="en-US" dirty="0">
                <a:latin typeface="Times New Roman" panose="02020603050405020304" pitchFamily="18" charset="0"/>
                <a:cs typeface="Times New Roman" panose="02020603050405020304" pitchFamily="18" charset="0"/>
              </a:rPr>
              <a:t>An industrial society is a society that depends on mechanization to produce its goods and services. Industrial societies rely on new inventions that facilitate agricultural and industrial production, and on new sources of energy, such as steam.</a:t>
            </a:r>
          </a:p>
        </p:txBody>
      </p:sp>
    </p:spTree>
    <p:extLst>
      <p:ext uri="{BB962C8B-B14F-4D97-AF65-F5344CB8AC3E}">
        <p14:creationId xmlns:p14="http://schemas.microsoft.com/office/powerpoint/2010/main" val="2158384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1A32-FE5F-415A-A9B7-E8F3F76BC153}"/>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D644B79E-8D61-4988-AED0-284CD80A4EF1}"/>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As the Industrial Revolution proceeded, a new form of social structure emerged. Many societies underwent an irrevocable shift from an agrarian-oriented economy to an industrial base. </a:t>
            </a:r>
          </a:p>
          <a:p>
            <a:pPr algn="just"/>
            <a:r>
              <a:rPr lang="en-US" dirty="0">
                <a:latin typeface="Times New Roman" panose="02020603050405020304" pitchFamily="18" charset="0"/>
                <a:cs typeface="Times New Roman" panose="02020603050405020304" pitchFamily="18" charset="0"/>
              </a:rPr>
              <a:t>Instead, specialization of tasks and manufacturing of goods became increasingly common. Workers, generally men but also women and even children, left their family homesteads to work in central locations such as factories.</a:t>
            </a:r>
          </a:p>
        </p:txBody>
      </p:sp>
    </p:spTree>
    <p:extLst>
      <p:ext uri="{BB962C8B-B14F-4D97-AF65-F5344CB8AC3E}">
        <p14:creationId xmlns:p14="http://schemas.microsoft.com/office/powerpoint/2010/main" val="3916812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5327A-0361-45AC-8BBB-EAF4C69701BD}"/>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AA540C6E-C212-4DD1-A304-AC241861C0F5}"/>
              </a:ext>
            </a:extLst>
          </p:cNvPr>
          <p:cNvSpPr>
            <a:spLocks noGrp="1"/>
          </p:cNvSpPr>
          <p:nvPr>
            <p:ph idx="1"/>
          </p:nvPr>
        </p:nvSpPr>
        <p:spPr/>
        <p:txBody>
          <a:bodyPr>
            <a:normAutofit lnSpcReduction="10000"/>
          </a:bodyPr>
          <a:lstStyle/>
          <a:p>
            <a:pPr algn="just"/>
            <a:r>
              <a:rPr lang="en-US" sz="4000" b="1" dirty="0">
                <a:latin typeface="Times New Roman" panose="02020603050405020304" pitchFamily="18" charset="0"/>
                <a:cs typeface="Times New Roman" panose="02020603050405020304" pitchFamily="18" charset="0"/>
              </a:rPr>
              <a:t>Postindustrial and Postmodern Societies </a:t>
            </a:r>
            <a:r>
              <a:rPr lang="en-US" dirty="0">
                <a:latin typeface="Times New Roman" panose="02020603050405020304" pitchFamily="18" charset="0"/>
                <a:cs typeface="Times New Roman" panose="02020603050405020304" pitchFamily="18" charset="0"/>
              </a:rPr>
              <a:t>When Lenski first proposed the sociocultural evolutionary approach in the 1960s, he paid relatively little attention to how maturing industrialized societies may change with the emergence of even more advanced forms of technology. </a:t>
            </a:r>
          </a:p>
          <a:p>
            <a:pPr algn="just"/>
            <a:r>
              <a:rPr lang="en-US" dirty="0">
                <a:latin typeface="Times New Roman" panose="02020603050405020304" pitchFamily="18" charset="0"/>
                <a:cs typeface="Times New Roman" panose="02020603050405020304" pitchFamily="18" charset="0"/>
              </a:rPr>
              <a:t>More recently, he and other sociologists have studied the significant changes in the occupational structure of industrial societies as they shift from manufacturing to service economies. In the 1970s, </a:t>
            </a:r>
            <a:r>
              <a:rPr lang="en-US" b="1" dirty="0">
                <a:latin typeface="Times New Roman" panose="02020603050405020304" pitchFamily="18" charset="0"/>
                <a:cs typeface="Times New Roman" panose="02020603050405020304" pitchFamily="18" charset="0"/>
              </a:rPr>
              <a:t>sociologist Daniel Bell wrote about the technologically advanced postindustrial society, whose economic system is engaged primarily in the processing and control of information. </a:t>
            </a:r>
          </a:p>
        </p:txBody>
      </p:sp>
    </p:spTree>
    <p:extLst>
      <p:ext uri="{BB962C8B-B14F-4D97-AF65-F5344CB8AC3E}">
        <p14:creationId xmlns:p14="http://schemas.microsoft.com/office/powerpoint/2010/main" val="1490894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53CE9-F133-416C-9957-C0EC9C123AF6}"/>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F69A7603-CFB9-4C65-A167-78D0A2C23754}"/>
              </a:ext>
            </a:extLst>
          </p:cNvPr>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 main output of a postindustrial society is services rather than manufactured goods. Large numbers of people become involved in occupations devoted to the teaching, generation, or dissemination of ideas. Jobs in fields such as advertising, public relations, human resources, and computer information systems would be typical of a postindustrial society (D. Bell [1973] 1999).</a:t>
            </a:r>
          </a:p>
          <a:p>
            <a:pPr algn="just"/>
            <a:r>
              <a:rPr lang="en-US" dirty="0">
                <a:latin typeface="Times New Roman" panose="02020603050405020304" pitchFamily="18" charset="0"/>
                <a:cs typeface="Times New Roman" panose="02020603050405020304" pitchFamily="18" charset="0"/>
              </a:rPr>
              <a:t> Bell views the transition from industrial to postindustrial society as a positive development. He sees a general decline in organized working-class groups and a rise in interest groups concerned with national issues such as health, education, and the environment. </a:t>
            </a:r>
          </a:p>
          <a:p>
            <a:pPr algn="just"/>
            <a:r>
              <a:rPr lang="en-US" dirty="0">
                <a:latin typeface="Times New Roman" panose="02020603050405020304" pitchFamily="18" charset="0"/>
                <a:cs typeface="Times New Roman" panose="02020603050405020304" pitchFamily="18" charset="0"/>
              </a:rPr>
              <a:t>Bell’s outlook is functionalist, because he portrays the postindustrial society as basically consensual. As organizations and interest groups engage in an open and competitive process of decision making, Bell believes, the level of conflict between diverse groups will diminish, strengthening social stability.</a:t>
            </a:r>
          </a:p>
        </p:txBody>
      </p:sp>
    </p:spTree>
    <p:extLst>
      <p:ext uri="{BB962C8B-B14F-4D97-AF65-F5344CB8AC3E}">
        <p14:creationId xmlns:p14="http://schemas.microsoft.com/office/powerpoint/2010/main" val="2878996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8868-071C-4EE2-B524-4DE750B1B392}"/>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56355DBE-56FD-484C-80D3-9C887044F885}"/>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Conflict theorists take issue with Bell’s functionalist analysis of  the postindustrial society. For example, Michael Harrington (1980), who alerted the nation to the problems of the poor in his book The Other America, questioned the significance that Bell attached to the growing class of white-collar workers. </a:t>
            </a:r>
          </a:p>
          <a:p>
            <a:pPr algn="just"/>
            <a:r>
              <a:rPr lang="en-US" dirty="0">
                <a:latin typeface="Times New Roman" panose="02020603050405020304" pitchFamily="18" charset="0"/>
                <a:cs typeface="Times New Roman" panose="02020603050405020304" pitchFamily="18" charset="0"/>
              </a:rPr>
              <a:t>Harrington conceded that scientists, engineers, and economists are involved in important political and economic decisions, but he disagreed with Bell’s claim that they have a free hand in decision making, independent of the interests of the rich. Harrington followed in the tradition of Marx by arguing that conflict between social classes will continue in the postindustrial society.</a:t>
            </a:r>
          </a:p>
        </p:txBody>
      </p:sp>
    </p:spTree>
    <p:extLst>
      <p:ext uri="{BB962C8B-B14F-4D97-AF65-F5344CB8AC3E}">
        <p14:creationId xmlns:p14="http://schemas.microsoft.com/office/powerpoint/2010/main" val="155593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FE4B-6179-4EB6-B027-10C0E2734151}"/>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3BA52FD2-7593-46EC-BB7F-2464F56CB22C}"/>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Sociologists have gone beyond discussion of </a:t>
            </a:r>
            <a:r>
              <a:rPr lang="en-US" b="1" dirty="0">
                <a:latin typeface="Times New Roman" panose="02020603050405020304" pitchFamily="18" charset="0"/>
                <a:cs typeface="Times New Roman" panose="02020603050405020304" pitchFamily="18" charset="0"/>
              </a:rPr>
              <a:t>the postindustrial society to the ideal of the postmodern society. </a:t>
            </a:r>
            <a:r>
              <a:rPr lang="en-US" dirty="0">
                <a:latin typeface="Times New Roman" panose="02020603050405020304" pitchFamily="18" charset="0"/>
                <a:cs typeface="Times New Roman" panose="02020603050405020304" pitchFamily="18" charset="0"/>
              </a:rPr>
              <a:t>A postmodern society is a technologically sophisticated society that is preoccupied with consumer goods and media images (Brannigan 1992). </a:t>
            </a:r>
          </a:p>
          <a:p>
            <a:pPr algn="just"/>
            <a:r>
              <a:rPr lang="en-US" dirty="0">
                <a:latin typeface="Times New Roman" panose="02020603050405020304" pitchFamily="18" charset="0"/>
                <a:cs typeface="Times New Roman" panose="02020603050405020304" pitchFamily="18" charset="0"/>
              </a:rPr>
              <a:t>Such societies consume goods and information on a mass scale. Postmodern theorists take a global perspective, noting the ways that culture crosses national boundaries. For example, residents of the United States may listen to reggae music from Jamaica, eat sushi and other Japanese foods, and wear clogs from Sweden. And online social networks know no national boundaries. </a:t>
            </a:r>
          </a:p>
        </p:txBody>
      </p:sp>
    </p:spTree>
    <p:extLst>
      <p:ext uri="{BB962C8B-B14F-4D97-AF65-F5344CB8AC3E}">
        <p14:creationId xmlns:p14="http://schemas.microsoft.com/office/powerpoint/2010/main" val="3233137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AE78-6D45-4B24-A4A5-179D9121DF1B}"/>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B9866CEB-E228-4E56-818E-AF596552CF7D}"/>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emphasis of </a:t>
            </a:r>
            <a:r>
              <a:rPr lang="en-US" b="1" dirty="0">
                <a:latin typeface="Times New Roman" panose="02020603050405020304" pitchFamily="18" charset="0"/>
                <a:cs typeface="Times New Roman" panose="02020603050405020304" pitchFamily="18" charset="0"/>
              </a:rPr>
              <a:t>postmodern</a:t>
            </a:r>
            <a:r>
              <a:rPr lang="en-US" dirty="0">
                <a:latin typeface="Times New Roman" panose="02020603050405020304" pitchFamily="18" charset="0"/>
                <a:cs typeface="Times New Roman" panose="02020603050405020304" pitchFamily="18" charset="0"/>
              </a:rPr>
              <a:t> theorists is on observing and describing newly emerging cultural forms and patterns of social interaction. Within sociology, the postmodern view offers support for integrating the insights of various theoretical perspectives— functionalism, conflict theory, feminist theory, and interactionism—while incorporating other contemporary approaches.</a:t>
            </a:r>
          </a:p>
          <a:p>
            <a:pPr algn="just"/>
            <a:r>
              <a:rPr lang="en-US" dirty="0">
                <a:latin typeface="Times New Roman" panose="02020603050405020304" pitchFamily="18" charset="0"/>
                <a:cs typeface="Times New Roman" panose="02020603050405020304" pitchFamily="18" charset="0"/>
              </a:rPr>
              <a:t> Feminist sociologists argue optimistically that with its indifference to hierarchies and distinctions, the postmodern society will discard traditional values of male dominance in favor of gender equality. </a:t>
            </a:r>
          </a:p>
        </p:txBody>
      </p:sp>
    </p:spTree>
    <p:extLst>
      <p:ext uri="{BB962C8B-B14F-4D97-AF65-F5344CB8AC3E}">
        <p14:creationId xmlns:p14="http://schemas.microsoft.com/office/powerpoint/2010/main" val="3880228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16EC7-FFB7-4208-9254-615A0DEF561F}"/>
              </a:ext>
            </a:extLst>
          </p:cNvPr>
          <p:cNvSpPr>
            <a:spLocks noGrp="1"/>
          </p:cNvSpPr>
          <p:nvPr>
            <p:ph type="title"/>
          </p:nvPr>
        </p:nvSpPr>
        <p:spPr/>
        <p:txBody>
          <a:bodyPr/>
          <a:lstStyle/>
          <a:p>
            <a:r>
              <a:rPr lang="en-US" sz="4000" dirty="0">
                <a:solidFill>
                  <a:prstClr val="black"/>
                </a:solidFill>
                <a:latin typeface="Times New Roman" panose="02020603050405020304" pitchFamily="18" charset="0"/>
                <a:cs typeface="Times New Roman" panose="02020603050405020304" pitchFamily="18" charset="0"/>
              </a:rPr>
              <a:t>Social Structure in Global Perspective (continue)</a:t>
            </a:r>
            <a:endParaRPr lang="en-US" dirty="0"/>
          </a:p>
        </p:txBody>
      </p:sp>
      <p:sp>
        <p:nvSpPr>
          <p:cNvPr id="3" name="Content Placeholder 2">
            <a:extLst>
              <a:ext uri="{FF2B5EF4-FFF2-40B4-BE49-F238E27FC236}">
                <a16:creationId xmlns:a16="http://schemas.microsoft.com/office/drawing/2014/main" id="{5F8CA36F-AACF-4837-A13A-022EB52D2982}"/>
              </a:ext>
            </a:extLst>
          </p:cNvPr>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work of these three thinkers reminds us that a major focus of sociology has been to identify changes in social structure and the consequences for human behavior.</a:t>
            </a:r>
          </a:p>
          <a:p>
            <a:pPr algn="just"/>
            <a:r>
              <a:rPr lang="en-US" dirty="0">
                <a:latin typeface="Times New Roman" panose="02020603050405020304" pitchFamily="18" charset="0"/>
                <a:cs typeface="Times New Roman" panose="02020603050405020304" pitchFamily="18" charset="0"/>
              </a:rPr>
              <a:t> At the macro level, we see society shifting to more advanced forms of technology. The social structure becomes increasingly complex, and new social institutions emerge to assume some functions that once were performed by the family. On the micro level, these changes affect the nature of social interactions. </a:t>
            </a:r>
          </a:p>
          <a:p>
            <a:pPr algn="just"/>
            <a:r>
              <a:rPr lang="en-US" dirty="0">
                <a:latin typeface="Times New Roman" panose="02020603050405020304" pitchFamily="18" charset="0"/>
                <a:cs typeface="Times New Roman" panose="02020603050405020304" pitchFamily="18" charset="0"/>
              </a:rPr>
              <a:t>Each individual takes on multiple social roles, and people come to rely more on social networks and less on kinship ties. As the social structure becomes more complex, people’s relationships become more impersonal, transient, and fragmented.</a:t>
            </a:r>
          </a:p>
        </p:txBody>
      </p:sp>
    </p:spTree>
    <p:extLst>
      <p:ext uri="{BB962C8B-B14F-4D97-AF65-F5344CB8AC3E}">
        <p14:creationId xmlns:p14="http://schemas.microsoft.com/office/powerpoint/2010/main" val="185617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2335</Words>
  <Application>Microsoft Office PowerPoint</Application>
  <PresentationFormat>Widescreen</PresentationFormat>
  <Paragraphs>65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Social Structure in Global Perspective </vt:lpstr>
      <vt:lpstr>Social Structure in Global Perspective (Book: R. T. Schaefer-Sociology, 2013:117-121)</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lpstr>Social Structure in Global Perspective (continue)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Structure in Global Perspective</dc:title>
  <dc:creator>User</dc:creator>
  <cp:lastModifiedBy>Ety Rani</cp:lastModifiedBy>
  <cp:revision>18</cp:revision>
  <dcterms:created xsi:type="dcterms:W3CDTF">2022-03-27T13:33:23Z</dcterms:created>
  <dcterms:modified xsi:type="dcterms:W3CDTF">2024-02-27T17:39:07Z</dcterms:modified>
</cp:coreProperties>
</file>